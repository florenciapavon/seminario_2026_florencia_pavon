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embeddedFontLst>
    <p:embeddedFont>
      <p:font typeface="IBM Plex Sans"/>
      <p:regular r:id="rId201314"/>
    </p:embeddedFont>
    <p:embeddedFont>
      <p:font typeface="IBM Plex Sans SemiBold"/>
      <p:regular r:id="rId201315"/>
    </p:embeddedFont>
    <p:embeddedFont>
      <p:font typeface="IBM Plex Sans Bold"/>
      <p:regular r:id="rId201316"/>
    </p:embeddedFont>
    <p:embeddedFont>
      <p:font typeface="Sora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trabajo presenta una aplicación que transforma opiniones escritas en español en una señal de sentimiento utilizable para orientar una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desafío no era solamente leer una reseña. Era convertir lenguaje cotidiano, con sus ambigüedades, en una señal suficientemente clara para ayudar 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elección se apoyó en dos cosas observadas en las comparaciones: el Modelo 1 rindió mejor con pipeline y fue más rápido. Además, su salida de una a cinco estrellas es fácil de interpretar.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separación es concreta. El código se desarrolla localmente y queda asociado a GitHub; el modelo y sus pesos viven en Hugging Face Hub; la aplicación corre en Spaces y allí ocurre la inferencia.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deploy no buscaba resolver una escala masiva. Buscaba una aplicación ejecutable, sin depender de créditos externos y sin sumar infraestructura innecesaria.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demo ya está publicada. En la presentación conviene mostrar una captura real de la interfaz, pero como esa captura no está incluida en el material, este espacio queda marcado explícitamente como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402 fue la señal que obligó a revisar la arquitectura. La solución no fue insistir con el cliente, sino llevar la inferencia al entorno de Spaces y corregir la llamada a text_classification().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demo prueba que el flujo funciona. Todavía falta saber cómo se comporta bajo carga, con más variedad de opiniones y fuera de las condiciones del plan gratuito.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siguiente paso no es escalar por anticipado. Es completar la evidencia, probar el modelo con casos difíciles y medir precisión, tiempos y carga. Con esos datos se puede decidir si la señal realmente mejora una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2F4E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2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2F4ED"/>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huggingface.co/spaces/florpav/analizador-sentimientos" TargetMode="External"/><Relationship Id="rId3" Type="http://schemas.openxmlformats.org/officeDocument/2006/relationships/hyperlink" Target="https://huggingface.co/spaces/florpav/analizador-sentimientos" TargetMode="External"/><Relationship Id="rId2" Type="http://schemas.openxmlformats.org/officeDocument/2006/relationships/image" Target="../media/image-6-1.jpe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61931" y="1576784"/>
            <a:ext cx="5716246" cy="3396655"/>
          </a:xfrm>
          <a:prstGeom prst="roundRect">
            <a:avLst>
              <a:gd name="adj" fmla="val 953"/>
            </a:avLst>
          </a:prstGeom>
          <a:solidFill>
            <a:srgbClr val="083C35"/>
          </a:solidFill>
          <a:ln/>
        </p:spPr>
      </p:sp>
      <p:sp>
        <p:nvSpPr>
          <p:cNvPr id="3" name="Text 1"/>
          <p:cNvSpPr/>
          <p:nvPr/>
        </p:nvSpPr>
        <p:spPr>
          <a:xfrm>
            <a:off x="315905" y="1637109"/>
            <a:ext cx="5608299" cy="2844800"/>
          </a:xfrm>
          <a:prstGeom prst="rect">
            <a:avLst/>
          </a:prstGeom>
          <a:noFill/>
          <a:ln/>
        </p:spPr>
        <p:txBody>
          <a:bodyPr wrap="square" lIns="0" tIns="0" rIns="0" bIns="0" rtlCol="0" anchor="t">
            <a:normAutofit/>
          </a:bodyPr>
          <a:lstStyle/>
          <a:p>
            <a:pPr algn="l" indent="0" marL="0">
              <a:lnSpc>
                <a:spcPct val="83000"/>
              </a:lnSpc>
              <a:buNone/>
            </a:pPr>
            <a:r>
              <a:rPr lang="en-US" sz="5600" b="1" spc="-140" kern="100" dirty="0">
                <a:solidFill>
                  <a:srgbClr val="FFFFFF"/>
                </a:solidFill>
                <a:latin typeface="Sora Bold" pitchFamily="34" charset="0"/>
                <a:ea typeface="Sora Bold" pitchFamily="34" charset="-122"/>
                <a:cs typeface="Sora Bold" pitchFamily="34" charset="-120"/>
              </a:rPr>
              <a:t>TP Integrador</a:t>
            </a:r>
            <a:endParaRPr lang="en-US" sz="5600" dirty="0"/>
          </a:p>
          <a:p>
            <a:pPr algn="l" indent="0" marL="0">
              <a:lnSpc>
                <a:spcPct val="83000"/>
              </a:lnSpc>
              <a:buNone/>
            </a:pPr>
            <a:r>
              <a:rPr lang="en-US" sz="5600" b="1" spc="-140" kern="100" dirty="0">
                <a:solidFill>
                  <a:srgbClr val="FFFFFF"/>
                </a:solidFill>
                <a:latin typeface="Sora Bold" pitchFamily="34" charset="0"/>
                <a:ea typeface="Sora Bold" pitchFamily="34" charset="-122"/>
                <a:cs typeface="Sora Bold" pitchFamily="34" charset="-120"/>
              </a:rPr>
              <a:t>Seminario de</a:t>
            </a:r>
            <a:endParaRPr lang="en-US" sz="5600" dirty="0"/>
          </a:p>
          <a:p>
            <a:pPr algn="l" indent="0" marL="0">
              <a:lnSpc>
                <a:spcPct val="83000"/>
              </a:lnSpc>
              <a:buNone/>
            </a:pPr>
            <a:r>
              <a:rPr lang="en-US" sz="5600" b="1" spc="-140" kern="100" dirty="0">
                <a:solidFill>
                  <a:srgbClr val="FFFFFF"/>
                </a:solidFill>
                <a:latin typeface="Sora Bold" pitchFamily="34" charset="0"/>
                <a:ea typeface="Sora Bold" pitchFamily="34" charset="-122"/>
                <a:cs typeface="Sora Bold" pitchFamily="34" charset="-120"/>
              </a:rPr>
              <a:t>Actualización 2026</a:t>
            </a:r>
            <a:endParaRPr lang="en-US" sz="5600" dirty="0"/>
          </a:p>
        </p:txBody>
      </p:sp>
      <p:sp>
        <p:nvSpPr>
          <p:cNvPr id="4" name="Text 2"/>
          <p:cNvSpPr/>
          <p:nvPr/>
        </p:nvSpPr>
        <p:spPr>
          <a:xfrm>
            <a:off x="315905" y="4682061"/>
            <a:ext cx="6217884" cy="297855"/>
          </a:xfrm>
          <a:prstGeom prst="rect">
            <a:avLst/>
          </a:prstGeom>
          <a:noFill/>
          <a:ln/>
        </p:spPr>
        <p:txBody>
          <a:bodyPr wrap="none" lIns="0" tIns="0" rIns="0" bIns="0" rtlCol="0" anchor="t"/>
          <a:lstStyle/>
          <a:p>
            <a:pPr algn="l" indent="0" marL="0">
              <a:lnSpc>
                <a:spcPct val="115000"/>
              </a:lnSpc>
              <a:buNone/>
            </a:pPr>
            <a:r>
              <a:rPr lang="en-US" sz="1700" dirty="0">
                <a:solidFill>
                  <a:srgbClr val="FFFFFF"/>
                </a:solidFill>
                <a:latin typeface="IBM Plex Sans" pitchFamily="34" charset="0"/>
                <a:ea typeface="IBM Plex Sans" pitchFamily="34" charset="-122"/>
                <a:cs typeface="IBM Plex Sans" pitchFamily="34" charset="-120"/>
              </a:rPr>
              <a:t>Análisis de Sentimientos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3276600"/>
          </a:xfrm>
          <a:prstGeom prst="rect">
            <a:avLst/>
          </a:prstGeom>
          <a:solidFill>
            <a:srgbClr val="083C35"/>
          </a:solidFill>
          <a:ln/>
        </p:spPr>
      </p:sp>
      <p:sp>
        <p:nvSpPr>
          <p:cNvPr id="3" name="Text 1"/>
          <p:cNvSpPr/>
          <p:nvPr/>
        </p:nvSpPr>
        <p:spPr>
          <a:xfrm>
            <a:off x="507987" y="364680"/>
            <a:ext cx="11683708"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FFFFFF"/>
                </a:solidFill>
                <a:latin typeface="IBM Plex Sans SemiBold" pitchFamily="34" charset="0"/>
                <a:ea typeface="IBM Plex Sans SemiBold" pitchFamily="34" charset="-122"/>
                <a:cs typeface="IBM Plex Sans SemiBold" pitchFamily="34" charset="-120"/>
              </a:rPr>
              <a:t>01 · EL PROBLEMA</a:t>
            </a:r>
            <a:endParaRPr lang="en-US" sz="1100" dirty="0"/>
          </a:p>
        </p:txBody>
      </p:sp>
      <p:sp>
        <p:nvSpPr>
          <p:cNvPr id="4" name="Text 2"/>
          <p:cNvSpPr/>
          <p:nvPr/>
        </p:nvSpPr>
        <p:spPr>
          <a:xfrm>
            <a:off x="507987" y="672755"/>
            <a:ext cx="11175720" cy="1184473"/>
          </a:xfrm>
          <a:prstGeom prst="rect">
            <a:avLst/>
          </a:prstGeom>
          <a:noFill/>
          <a:ln/>
        </p:spPr>
        <p:txBody>
          <a:bodyPr wrap="square" lIns="0" tIns="0" rIns="0" bIns="0" rtlCol="0" anchor="t">
            <a:normAutofit/>
          </a:bodyPr>
          <a:lstStyle/>
          <a:p>
            <a:pPr algn="ctr" indent="0" marL="0">
              <a:lnSpc>
                <a:spcPct val="88000"/>
              </a:lnSpc>
              <a:buNone/>
            </a:pPr>
            <a:r>
              <a:rPr lang="en-US" sz="4400" b="1" spc="-88" kern="100" dirty="0">
                <a:solidFill>
                  <a:srgbClr val="FFFFFF"/>
                </a:solidFill>
                <a:latin typeface="Sora Bold" pitchFamily="34" charset="0"/>
                <a:ea typeface="Sora Bold" pitchFamily="34" charset="-122"/>
                <a:cs typeface="Sora Bold" pitchFamily="34" charset="-120"/>
              </a:rPr>
              <a:t>El problema es convertir texto libre en una señal accionable</a:t>
            </a:r>
            <a:endParaRPr lang="en-US" sz="4400" dirty="0"/>
          </a:p>
        </p:txBody>
      </p:sp>
      <p:sp>
        <p:nvSpPr>
          <p:cNvPr id="5" name="Shape 3"/>
          <p:cNvSpPr/>
          <p:nvPr/>
        </p:nvSpPr>
        <p:spPr>
          <a:xfrm>
            <a:off x="0" y="3581400"/>
            <a:ext cx="3860703" cy="3276600"/>
          </a:xfrm>
          <a:prstGeom prst="rect">
            <a:avLst/>
          </a:prstGeom>
          <a:solidFill>
            <a:srgbClr val="FFFFFF"/>
          </a:solidFill>
          <a:ln/>
        </p:spPr>
      </p:sp>
      <p:sp>
        <p:nvSpPr>
          <p:cNvPr id="6" name="Text 4"/>
          <p:cNvSpPr/>
          <p:nvPr/>
        </p:nvSpPr>
        <p:spPr>
          <a:xfrm>
            <a:off x="457189" y="4642271"/>
            <a:ext cx="2946326" cy="402332"/>
          </a:xfrm>
          <a:prstGeom prst="rect">
            <a:avLst/>
          </a:prstGeom>
          <a:noFill/>
          <a:ln/>
        </p:spPr>
        <p:txBody>
          <a:bodyPr wrap="none" lIns="0" tIns="0" rIns="0" bIns="0" rtlCol="0" anchor="t"/>
          <a:lstStyle/>
          <a:p>
            <a:pPr algn="ctr" indent="0" marL="0">
              <a:lnSpc>
                <a:spcPct val="110000"/>
              </a:lnSpc>
              <a:buNone/>
            </a:pPr>
            <a:r>
              <a:rPr lang="en-US" sz="2400" dirty="0">
                <a:solidFill>
                  <a:srgbClr val="000000"/>
                </a:solidFill>
                <a:latin typeface="IBM Plex Sans" pitchFamily="34" charset="0"/>
                <a:ea typeface="IBM Plex Sans" pitchFamily="34" charset="-122"/>
                <a:cs typeface="IBM Plex Sans" pitchFamily="34" charset="-120"/>
              </a:rPr>
              <a:t>Texto real</a:t>
            </a:r>
            <a:endParaRPr lang="en-US" sz="2400" dirty="0"/>
          </a:p>
        </p:txBody>
      </p:sp>
      <p:sp>
        <p:nvSpPr>
          <p:cNvPr id="7" name="Text 5"/>
          <p:cNvSpPr/>
          <p:nvPr/>
        </p:nvSpPr>
        <p:spPr>
          <a:xfrm>
            <a:off x="457189" y="5221514"/>
            <a:ext cx="2946326" cy="595709"/>
          </a:xfrm>
          <a:prstGeom prst="rect">
            <a:avLst/>
          </a:prstGeom>
          <a:noFill/>
          <a:ln/>
        </p:spPr>
        <p:txBody>
          <a:bodyPr wrap="square" lIns="0" tIns="0" rIns="0" bIns="0" rtlCol="0" anchor="t">
            <a:normAutofit/>
          </a:bodyPr>
          <a:lstStyle/>
          <a:p>
            <a:pPr algn="ctr" indent="0" marL="0">
              <a:lnSpc>
                <a:spcPct val="115000"/>
              </a:lnSpc>
              <a:buNone/>
            </a:pPr>
            <a:r>
              <a:rPr lang="en-US" sz="1700" dirty="0">
                <a:solidFill>
                  <a:srgbClr val="000000"/>
                </a:solidFill>
                <a:latin typeface="IBM Plex Sans" pitchFamily="34" charset="0"/>
                <a:ea typeface="IBM Plex Sans" pitchFamily="34" charset="-122"/>
                <a:cs typeface="IBM Plex Sans" pitchFamily="34" charset="-120"/>
              </a:rPr>
              <a:t>Las opiniones mezclan jerga, dichos, ironía y negaciones.</a:t>
            </a:r>
            <a:endParaRPr lang="en-US" sz="1700" dirty="0"/>
          </a:p>
        </p:txBody>
      </p:sp>
      <p:sp>
        <p:nvSpPr>
          <p:cNvPr id="8" name="Shape 6"/>
          <p:cNvSpPr/>
          <p:nvPr/>
        </p:nvSpPr>
        <p:spPr>
          <a:xfrm>
            <a:off x="4165496" y="3581400"/>
            <a:ext cx="3860703" cy="3276600"/>
          </a:xfrm>
          <a:prstGeom prst="rect">
            <a:avLst/>
          </a:prstGeom>
          <a:solidFill>
            <a:srgbClr val="FFFFFF"/>
          </a:solidFill>
          <a:ln/>
        </p:spPr>
      </p:sp>
      <p:sp>
        <p:nvSpPr>
          <p:cNvPr id="9" name="Text 7"/>
          <p:cNvSpPr/>
          <p:nvPr/>
        </p:nvSpPr>
        <p:spPr>
          <a:xfrm>
            <a:off x="4622684" y="4344416"/>
            <a:ext cx="2946326" cy="402332"/>
          </a:xfrm>
          <a:prstGeom prst="rect">
            <a:avLst/>
          </a:prstGeom>
          <a:noFill/>
          <a:ln/>
        </p:spPr>
        <p:txBody>
          <a:bodyPr wrap="none" lIns="0" tIns="0" rIns="0" bIns="0" rtlCol="0" anchor="t"/>
          <a:lstStyle/>
          <a:p>
            <a:pPr algn="ctr" indent="0" marL="0">
              <a:lnSpc>
                <a:spcPct val="110000"/>
              </a:lnSpc>
              <a:buNone/>
            </a:pPr>
            <a:r>
              <a:rPr lang="en-US" sz="2400" dirty="0">
                <a:solidFill>
                  <a:srgbClr val="000000"/>
                </a:solidFill>
                <a:latin typeface="IBM Plex Sans" pitchFamily="34" charset="0"/>
                <a:ea typeface="IBM Plex Sans" pitchFamily="34" charset="-122"/>
                <a:cs typeface="IBM Plex Sans" pitchFamily="34" charset="-120"/>
              </a:rPr>
              <a:t>Reglas manuales</a:t>
            </a:r>
            <a:endParaRPr lang="en-US" sz="2400" dirty="0"/>
          </a:p>
        </p:txBody>
      </p:sp>
      <p:sp>
        <p:nvSpPr>
          <p:cNvPr id="10" name="Text 8"/>
          <p:cNvSpPr/>
          <p:nvPr/>
        </p:nvSpPr>
        <p:spPr>
          <a:xfrm>
            <a:off x="4622684" y="4923659"/>
            <a:ext cx="2946326" cy="1191419"/>
          </a:xfrm>
          <a:prstGeom prst="rect">
            <a:avLst/>
          </a:prstGeom>
          <a:noFill/>
          <a:ln/>
        </p:spPr>
        <p:txBody>
          <a:bodyPr wrap="square" lIns="0" tIns="0" rIns="0" bIns="0" rtlCol="0" anchor="t">
            <a:normAutofit/>
          </a:bodyPr>
          <a:lstStyle/>
          <a:p>
            <a:pPr algn="ctr" indent="0" marL="0">
              <a:lnSpc>
                <a:spcPct val="115000"/>
              </a:lnSpc>
              <a:buNone/>
            </a:pPr>
            <a:r>
              <a:rPr lang="en-US" sz="1700" dirty="0">
                <a:solidFill>
                  <a:srgbClr val="000000"/>
                </a:solidFill>
                <a:latin typeface="IBM Plex Sans" pitchFamily="34" charset="0"/>
                <a:ea typeface="IBM Plex Sans" pitchFamily="34" charset="-122"/>
                <a:cs typeface="IBM Plex Sans" pitchFamily="34" charset="-120"/>
              </a:rPr>
              <a:t>Resolverlo con reglas escritas a mano sería costoso, lento y poco abarcativo para las variantes del español.</a:t>
            </a:r>
            <a:endParaRPr lang="en-US" sz="1700" dirty="0"/>
          </a:p>
        </p:txBody>
      </p:sp>
      <p:sp>
        <p:nvSpPr>
          <p:cNvPr id="11" name="Shape 9"/>
          <p:cNvSpPr/>
          <p:nvPr/>
        </p:nvSpPr>
        <p:spPr>
          <a:xfrm>
            <a:off x="8330992" y="3581400"/>
            <a:ext cx="3860703" cy="3276600"/>
          </a:xfrm>
          <a:prstGeom prst="rect">
            <a:avLst/>
          </a:prstGeom>
          <a:solidFill>
            <a:srgbClr val="FFFFFF"/>
          </a:solidFill>
          <a:ln/>
        </p:spPr>
      </p:sp>
      <p:sp>
        <p:nvSpPr>
          <p:cNvPr id="12" name="Text 10"/>
          <p:cNvSpPr/>
          <p:nvPr/>
        </p:nvSpPr>
        <p:spPr>
          <a:xfrm>
            <a:off x="8788180" y="4344416"/>
            <a:ext cx="2946326" cy="402332"/>
          </a:xfrm>
          <a:prstGeom prst="rect">
            <a:avLst/>
          </a:prstGeom>
          <a:noFill/>
          <a:ln/>
        </p:spPr>
        <p:txBody>
          <a:bodyPr wrap="none" lIns="0" tIns="0" rIns="0" bIns="0" rtlCol="0" anchor="t"/>
          <a:lstStyle/>
          <a:p>
            <a:pPr algn="ctr" indent="0" marL="0">
              <a:lnSpc>
                <a:spcPct val="110000"/>
              </a:lnSpc>
              <a:buNone/>
            </a:pPr>
            <a:r>
              <a:rPr lang="en-US" sz="2400" dirty="0">
                <a:solidFill>
                  <a:srgbClr val="000000"/>
                </a:solidFill>
                <a:latin typeface="IBM Plex Sans" pitchFamily="34" charset="0"/>
                <a:ea typeface="IBM Plex Sans" pitchFamily="34" charset="-122"/>
                <a:cs typeface="IBM Plex Sans" pitchFamily="34" charset="-120"/>
              </a:rPr>
              <a:t>Señal útil</a:t>
            </a:r>
            <a:endParaRPr lang="en-US" sz="2400" dirty="0"/>
          </a:p>
        </p:txBody>
      </p:sp>
      <p:sp>
        <p:nvSpPr>
          <p:cNvPr id="13" name="Text 11"/>
          <p:cNvSpPr/>
          <p:nvPr/>
        </p:nvSpPr>
        <p:spPr>
          <a:xfrm>
            <a:off x="8788180" y="4923659"/>
            <a:ext cx="2946326" cy="1191419"/>
          </a:xfrm>
          <a:prstGeom prst="rect">
            <a:avLst/>
          </a:prstGeom>
          <a:noFill/>
          <a:ln/>
        </p:spPr>
        <p:txBody>
          <a:bodyPr wrap="square" lIns="0" tIns="0" rIns="0" bIns="0" rtlCol="0" anchor="t">
            <a:normAutofit/>
          </a:bodyPr>
          <a:lstStyle/>
          <a:p>
            <a:pPr algn="ctr" indent="0" marL="0">
              <a:lnSpc>
                <a:spcPct val="115000"/>
              </a:lnSpc>
              <a:buNone/>
            </a:pPr>
            <a:r>
              <a:rPr lang="en-US" sz="1700" dirty="0">
                <a:solidFill>
                  <a:srgbClr val="000000"/>
                </a:solidFill>
                <a:latin typeface="IBM Plex Sans" pitchFamily="34" charset="0"/>
                <a:ea typeface="IBM Plex Sans" pitchFamily="34" charset="-122"/>
                <a:cs typeface="IBM Plex Sans" pitchFamily="34" charset="-120"/>
              </a:rPr>
              <a:t>La app devuelve una etiqueta de sentimiento y una confianza estimada para orientar una decisión.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04792" y="136080"/>
            <a:ext cx="11886903"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02 · ELECCIÓN DEL MODELO</a:t>
            </a:r>
            <a:endParaRPr lang="en-US" sz="1100" dirty="0"/>
          </a:p>
        </p:txBody>
      </p:sp>
      <p:sp>
        <p:nvSpPr>
          <p:cNvPr id="3" name="Text 1"/>
          <p:cNvSpPr/>
          <p:nvPr/>
        </p:nvSpPr>
        <p:spPr>
          <a:xfrm>
            <a:off x="304743" y="434947"/>
            <a:ext cx="11582110" cy="457696"/>
          </a:xfrm>
          <a:prstGeom prst="rect">
            <a:avLst/>
          </a:prstGeom>
          <a:noFill/>
          <a:ln/>
        </p:spPr>
        <p:txBody>
          <a:bodyPr wrap="none" lIns="0" tIns="0" rIns="0" bIns="0" rtlCol="0" anchor="t"/>
          <a:lstStyle/>
          <a:p>
            <a:pPr algn="ctr"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Modelo multilingüe que entiende reseñas en español</a:t>
            </a:r>
            <a:endParaRPr lang="en-US" sz="3400" dirty="0"/>
          </a:p>
        </p:txBody>
      </p:sp>
      <p:sp>
        <p:nvSpPr>
          <p:cNvPr id="4" name="Shape 2"/>
          <p:cNvSpPr/>
          <p:nvPr/>
        </p:nvSpPr>
        <p:spPr>
          <a:xfrm>
            <a:off x="304792" y="1113433"/>
            <a:ext cx="4510967" cy="4803775"/>
          </a:xfrm>
          <a:prstGeom prst="roundRect">
            <a:avLst>
              <a:gd name="adj" fmla="val 4730"/>
            </a:avLst>
          </a:prstGeom>
          <a:solidFill>
            <a:srgbClr val="FFFFFF"/>
          </a:solidFill>
          <a:ln w="6350">
            <a:solidFill>
              <a:srgbClr val="CBD4CE"/>
            </a:solidFill>
            <a:prstDash val="solid"/>
          </a:ln>
          <a:effectLst>
            <a:outerShdw sx="100000" sy="100000" kx="0" ky="0" algn="bl" rotWithShape="0" blurRad="227330" dist="74930" dir="5400000">
              <a:srgbClr val="083c35">
                <a:alpha val="10000"/>
              </a:srgbClr>
            </a:outerShdw>
          </a:effectLst>
        </p:spPr>
      </p:sp>
      <p:sp>
        <p:nvSpPr>
          <p:cNvPr id="5" name="Text 3"/>
          <p:cNvSpPr/>
          <p:nvPr/>
        </p:nvSpPr>
        <p:spPr>
          <a:xfrm>
            <a:off x="539736" y="1332063"/>
            <a:ext cx="4276023"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MODELO ELEGIDO</a:t>
            </a:r>
            <a:endParaRPr lang="en-US" sz="1100" dirty="0"/>
          </a:p>
        </p:txBody>
      </p:sp>
      <p:sp>
        <p:nvSpPr>
          <p:cNvPr id="6" name="Text 4"/>
          <p:cNvSpPr/>
          <p:nvPr/>
        </p:nvSpPr>
        <p:spPr>
          <a:xfrm>
            <a:off x="539736" y="1611436"/>
            <a:ext cx="4041079" cy="1206996"/>
          </a:xfrm>
          <a:prstGeom prst="rect">
            <a:avLst/>
          </a:prstGeom>
          <a:noFill/>
          <a:ln/>
        </p:spPr>
        <p:txBody>
          <a:bodyPr wrap="square" lIns="0" tIns="0" rIns="0" bIns="0" rtlCol="0" anchor="t">
            <a:normAutofit/>
          </a:bodyPr>
          <a:lstStyle/>
          <a:p>
            <a:pPr algn="ctr"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nlptown/bert-base-multilingual-uncased-sentiment</a:t>
            </a:r>
            <a:endParaRPr lang="en-US" sz="2400" dirty="0"/>
          </a:p>
        </p:txBody>
      </p:sp>
      <p:sp>
        <p:nvSpPr>
          <p:cNvPr id="7" name="Text 5"/>
          <p:cNvSpPr/>
          <p:nvPr/>
        </p:nvSpPr>
        <p:spPr>
          <a:xfrm>
            <a:off x="539736" y="2995343"/>
            <a:ext cx="4041079" cy="893564"/>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Clasifica en cinco niveles de estrellas y fue entrenado con 50.000 opiniones de productos en español.</a:t>
            </a:r>
            <a:endParaRPr lang="en-US" sz="1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120452" y="1342033"/>
          <a:ext cx="6766450" cy="914400"/>
        </p:xfrm>
        <a:graphic>
          <a:graphicData uri="http://schemas.openxmlformats.org/drawingml/2006/table">
            <a:tbl>
              <a:tblPr/>
              <a:tblGrid>
                <a:gridCol w="2300528"/>
                <a:gridCol w="4465923"/>
              </a:tblGrid>
              <a:tr h="483183">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Criterio</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F2F4ED"/>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Decisión</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F2F4ED"/>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r>
              <a:tr h="483183">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Cobertura</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Español y múltiples idiomas</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r>
              <a:tr h="483183">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Salida</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1 a 5 estrellas</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r>
              <a:tr h="781030">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Rendimiento observado</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Mejor precisión con pipeline</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r>
              <a:tr h="768331">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Velocidad observada</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F2F4ED"/>
                      </a:solidFill>
                      <a:prstDash val="solid"/>
                      <a:round/>
                      <a:headEnd type="none" w="med" len="med"/>
                      <a:tailEnd type="none" w="med" len="med"/>
                    </a:lnB>
                  </a:tcPr>
                </a:tc>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Más rápido en las pruebas</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F2F4ED"/>
                      </a:solidFill>
                      <a:prstDash val="solid"/>
                      <a:round/>
                      <a:headEnd type="none" w="med" len="med"/>
                      <a:tailEnd type="none" w="med" len="med"/>
                    </a:lnB>
                  </a:tcPr>
                </a:tc>
              </a:tr>
            </a:tbl>
          </a:graphicData>
        </a:graphic>
      </p:graphicFrame>
      <p:sp>
        <p:nvSpPr>
          <p:cNvPr id="9" name="Shape 6"/>
          <p:cNvSpPr/>
          <p:nvPr/>
        </p:nvSpPr>
        <p:spPr>
          <a:xfrm>
            <a:off x="5120452" y="4490244"/>
            <a:ext cx="6766450" cy="1198364"/>
          </a:xfrm>
          <a:prstGeom prst="rect">
            <a:avLst/>
          </a:prstGeom>
          <a:solidFill>
            <a:srgbClr val="083C35"/>
          </a:solidFill>
          <a:ln/>
        </p:spPr>
      </p:sp>
      <p:sp>
        <p:nvSpPr>
          <p:cNvPr id="10" name="Text 7"/>
          <p:cNvSpPr/>
          <p:nvPr/>
        </p:nvSpPr>
        <p:spPr>
          <a:xfrm>
            <a:off x="5323647" y="4649121"/>
            <a:ext cx="6360060" cy="893564"/>
          </a:xfrm>
          <a:prstGeom prst="rect">
            <a:avLst/>
          </a:prstGeom>
          <a:noFill/>
          <a:ln/>
        </p:spPr>
        <p:txBody>
          <a:bodyPr wrap="square" lIns="0" tIns="0" rIns="0" bIns="0" rtlCol="0" anchor="t">
            <a:normAutofit/>
          </a:bodyPr>
          <a:lstStyle/>
          <a:p>
            <a:pPr algn="l" indent="0" marL="0">
              <a:lnSpc>
                <a:spcPct val="115000"/>
              </a:lnSpc>
              <a:buNone/>
            </a:pPr>
            <a:r>
              <a:rPr lang="en-US" sz="1700" b="1" dirty="0">
                <a:solidFill>
                  <a:srgbClr val="FFFFFF"/>
                </a:solidFill>
                <a:latin typeface="IBM Plex Sans Bold" pitchFamily="34" charset="0"/>
                <a:ea typeface="IBM Plex Sans Bold" pitchFamily="34" charset="-122"/>
                <a:cs typeface="IBM Plex Sans Bold" pitchFamily="34" charset="-120"/>
              </a:rPr>
              <a:t>Frente a tabularisai/multilingual-sentiment-analysis:</a:t>
            </a:r>
            <a:pPr algn="l" indent="0" marL="0">
              <a:lnSpc>
                <a:spcPct val="115000"/>
              </a:lnSpc>
              <a:buNone/>
            </a:pPr>
            <a:r>
              <a:rPr lang="en-US" sz="1700" dirty="0">
                <a:solidFill>
                  <a:srgbClr val="FFFFFF"/>
                </a:solidFill>
                <a:latin typeface="IBM Plex Sans" pitchFamily="34" charset="0"/>
                <a:ea typeface="IBM Plex Sans" pitchFamily="34" charset="-122"/>
                <a:cs typeface="IBM Plex Sans" pitchFamily="34" charset="-120"/>
              </a:rPr>
              <a:t> el Modelo 1 mostró mejor desempeño con pipeline y fue más rápido en las comparaciones realizadas.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6502237" cy="6858000"/>
          </a:xfrm>
          <a:prstGeom prst="rect">
            <a:avLst/>
          </a:prstGeom>
          <a:solidFill>
            <a:srgbClr val="083C35"/>
          </a:solidFill>
          <a:ln/>
        </p:spPr>
      </p:sp>
      <p:sp>
        <p:nvSpPr>
          <p:cNvPr id="3" name="Text 1"/>
          <p:cNvSpPr/>
          <p:nvPr/>
        </p:nvSpPr>
        <p:spPr>
          <a:xfrm>
            <a:off x="609585" y="542480"/>
            <a:ext cx="5892653"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FFFFFF"/>
                </a:solidFill>
                <a:latin typeface="IBM Plex Sans SemiBold" pitchFamily="34" charset="0"/>
                <a:ea typeface="IBM Plex Sans SemiBold" pitchFamily="34" charset="-122"/>
                <a:cs typeface="IBM Plex Sans SemiBold" pitchFamily="34" charset="-120"/>
              </a:rPr>
              <a:t>03 · ARQUITECTURA</a:t>
            </a:r>
            <a:endParaRPr lang="en-US" sz="1100" dirty="0"/>
          </a:p>
        </p:txBody>
      </p:sp>
      <p:sp>
        <p:nvSpPr>
          <p:cNvPr id="4" name="Text 2"/>
          <p:cNvSpPr/>
          <p:nvPr/>
        </p:nvSpPr>
        <p:spPr>
          <a:xfrm>
            <a:off x="609585" y="850555"/>
            <a:ext cx="5460863" cy="1776710"/>
          </a:xfrm>
          <a:prstGeom prst="rect">
            <a:avLst/>
          </a:prstGeom>
          <a:noFill/>
          <a:ln/>
        </p:spPr>
        <p:txBody>
          <a:bodyPr wrap="square" lIns="0" tIns="0" rIns="0" bIns="0" rtlCol="0" anchor="t">
            <a:normAutofit/>
          </a:bodyPr>
          <a:lstStyle/>
          <a:p>
            <a:pPr algn="l" indent="0" marL="0">
              <a:lnSpc>
                <a:spcPct val="88000"/>
              </a:lnSpc>
              <a:buNone/>
            </a:pPr>
            <a:r>
              <a:rPr lang="en-US" sz="4400" b="1" spc="-88" kern="100" dirty="0">
                <a:solidFill>
                  <a:srgbClr val="FFFFFF"/>
                </a:solidFill>
                <a:latin typeface="Sora Bold" pitchFamily="34" charset="0"/>
                <a:ea typeface="Sora Bold" pitchFamily="34" charset="-122"/>
                <a:cs typeface="Sora Bold" pitchFamily="34" charset="-120"/>
              </a:rPr>
              <a:t>El código y el modelo viven en lugares distintos</a:t>
            </a:r>
            <a:endParaRPr lang="en-US" sz="4400" dirty="0"/>
          </a:p>
        </p:txBody>
      </p:sp>
      <p:sp>
        <p:nvSpPr>
          <p:cNvPr id="5" name="Text 3"/>
          <p:cNvSpPr/>
          <p:nvPr/>
        </p:nvSpPr>
        <p:spPr>
          <a:xfrm>
            <a:off x="609585" y="2838847"/>
            <a:ext cx="5460863" cy="1946473"/>
          </a:xfrm>
          <a:prstGeom prst="rect">
            <a:avLst/>
          </a:prstGeom>
          <a:noFill/>
          <a:ln/>
        </p:spPr>
        <p:txBody>
          <a:bodyPr wrap="square" lIns="0" tIns="0" rIns="0" bIns="0" rtlCol="0" anchor="t">
            <a:normAutofit/>
          </a:bodyPr>
          <a:lstStyle/>
          <a:p>
            <a:pPr algn="l" indent="0" marL="0">
              <a:lnSpc>
                <a:spcPct val="115000"/>
              </a:lnSpc>
              <a:spcAft>
                <a:spcPts val="1750"/>
              </a:spcAft>
              <a:buNone/>
            </a:pPr>
            <a:r>
              <a:rPr lang="en-US" sz="1700" b="1" dirty="0">
                <a:solidFill>
                  <a:srgbClr val="FFFFFF"/>
                </a:solidFill>
                <a:latin typeface="IBM Plex Sans Bold" pitchFamily="34" charset="0"/>
                <a:ea typeface="IBM Plex Sans Bold" pitchFamily="34" charset="-122"/>
                <a:cs typeface="IBM Plex Sans Bold" pitchFamily="34" charset="-120"/>
              </a:rPr>
              <a:t>Código:</a:t>
            </a:r>
            <a:pPr algn="l" indent="0" marL="0">
              <a:lnSpc>
                <a:spcPct val="115000"/>
              </a:lnSpc>
              <a:spcAft>
                <a:spcPts val="1750"/>
              </a:spcAft>
              <a:buNone/>
            </a:pPr>
            <a:r>
              <a:rPr lang="en-US" sz="1700" dirty="0">
                <a:solidFill>
                  <a:srgbClr val="FFFFFF"/>
                </a:solidFill>
                <a:latin typeface="IBM Plex Sans" pitchFamily="34" charset="0"/>
                <a:ea typeface="IBM Plex Sans" pitchFamily="34" charset="-122"/>
                <a:cs typeface="IBM Plex Sans" pitchFamily="34" charset="-120"/>
              </a:rPr>
              <a:t> desarrollo local y repositorio GitHub — el enlace del repositorio quedó pendiente en el trabajo.</a:t>
            </a:r>
            <a:endParaRPr lang="en-US" sz="1700" dirty="0"/>
          </a:p>
          <a:p>
            <a:pPr algn="l" indent="0" marL="0">
              <a:lnSpc>
                <a:spcPct val="115000"/>
              </a:lnSpc>
              <a:spcAft>
                <a:spcPts val="1750"/>
              </a:spcAft>
              <a:buNone/>
            </a:pPr>
            <a:r>
              <a:rPr lang="en-US" sz="1700" b="1" dirty="0">
                <a:solidFill>
                  <a:srgbClr val="FFFFFF"/>
                </a:solidFill>
                <a:latin typeface="IBM Plex Sans Bold" pitchFamily="34" charset="0"/>
                <a:ea typeface="IBM Plex Sans Bold" pitchFamily="34" charset="-122"/>
                <a:cs typeface="IBM Plex Sans Bold" pitchFamily="34" charset="-120"/>
              </a:rPr>
              <a:t>Modelo y pesos:</a:t>
            </a:r>
            <a:pPr algn="l" indent="0" marL="0">
              <a:lnSpc>
                <a:spcPct val="115000"/>
              </a:lnSpc>
              <a:spcAft>
                <a:spcPts val="1750"/>
              </a:spcAft>
              <a:buNone/>
            </a:pPr>
            <a:r>
              <a:rPr lang="en-US" sz="1700" dirty="0">
                <a:solidFill>
                  <a:srgbClr val="FFFFFF"/>
                </a:solidFill>
                <a:latin typeface="IBM Plex Sans" pitchFamily="34" charset="0"/>
                <a:ea typeface="IBM Plex Sans" pitchFamily="34" charset="-122"/>
                <a:cs typeface="IBM Plex Sans" pitchFamily="34" charset="-120"/>
              </a:rPr>
              <a:t> Hugging Face Hub.</a:t>
            </a:r>
            <a:endParaRPr lang="en-US" sz="1700" dirty="0"/>
          </a:p>
          <a:p>
            <a:pPr algn="l" indent="0" marL="0">
              <a:lnSpc>
                <a:spcPct val="115000"/>
              </a:lnSpc>
              <a:buNone/>
            </a:pPr>
            <a:r>
              <a:rPr lang="en-US" sz="1700" b="1" dirty="0">
                <a:solidFill>
                  <a:srgbClr val="FFFFFF"/>
                </a:solidFill>
                <a:latin typeface="IBM Plex Sans Bold" pitchFamily="34" charset="0"/>
                <a:ea typeface="IBM Plex Sans Bold" pitchFamily="34" charset="-122"/>
                <a:cs typeface="IBM Plex Sans Bold" pitchFamily="34" charset="-120"/>
              </a:rPr>
              <a:t>Aplicación:</a:t>
            </a:r>
            <a:pPr algn="l" indent="0" marL="0">
              <a:lnSpc>
                <a:spcPct val="115000"/>
              </a:lnSpc>
              <a:buNone/>
            </a:pPr>
            <a:r>
              <a:rPr lang="en-US" sz="1700" dirty="0">
                <a:solidFill>
                  <a:srgbClr val="FFFFFF"/>
                </a:solidFill>
                <a:latin typeface="IBM Plex Sans" pitchFamily="34" charset="0"/>
                <a:ea typeface="IBM Plex Sans" pitchFamily="34" charset="-122"/>
                <a:cs typeface="IBM Plex Sans" pitchFamily="34" charset="-120"/>
              </a:rPr>
              <a:t> Hugging Face Spaces, con Gradio y transformers.pipeline; allí ocurre la inferencia.</a:t>
            </a:r>
            <a:endParaRPr lang="en-US" sz="1700" dirty="0"/>
          </a:p>
        </p:txBody>
      </p:sp>
      <p:pic>
        <p:nvPicPr>
          <p:cNvPr id="6" name="Image 0" descr="preencoded.png">    </p:cNvPr>
          <p:cNvPicPr>
            <a:picLocks noChangeAspect="1"/>
          </p:cNvPicPr>
          <p:nvPr/>
        </p:nvPicPr>
        <p:blipFill>
          <a:blip r:embed="rId1"/>
          <a:stretch>
            <a:fillRect/>
          </a:stretch>
        </p:blipFill>
        <p:spPr>
          <a:xfrm>
            <a:off x="6832429" y="431800"/>
            <a:ext cx="4851279" cy="5892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66280"/>
            <a:ext cx="11734506"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04 · DEPLOY</a:t>
            </a:r>
            <a:endParaRPr lang="en-US" sz="1100" dirty="0"/>
          </a:p>
        </p:txBody>
      </p:sp>
      <p:sp>
        <p:nvSpPr>
          <p:cNvPr id="3" name="Text 1"/>
          <p:cNvSpPr/>
          <p:nvPr/>
        </p:nvSpPr>
        <p:spPr>
          <a:xfrm>
            <a:off x="457189" y="774355"/>
            <a:ext cx="11277318" cy="1184473"/>
          </a:xfrm>
          <a:prstGeom prst="rect">
            <a:avLst/>
          </a:prstGeom>
          <a:noFill/>
          <a:ln/>
        </p:spPr>
        <p:txBody>
          <a:bodyPr wrap="square" lIns="0" tIns="0" rIns="0" bIns="0" rtlCol="0" anchor="t">
            <a:normAutofit/>
          </a:bodyPr>
          <a:lstStyle/>
          <a:p>
            <a:pPr algn="ctr" indent="0" marL="0">
              <a:lnSpc>
                <a:spcPct val="88000"/>
              </a:lnSpc>
              <a:buNone/>
            </a:pPr>
            <a:r>
              <a:rPr lang="en-US" sz="4400" b="1" spc="-88" kern="100" dirty="0">
                <a:solidFill>
                  <a:srgbClr val="10201D"/>
                </a:solidFill>
                <a:latin typeface="Sora Bold" pitchFamily="34" charset="0"/>
                <a:ea typeface="Sora Bold" pitchFamily="34" charset="-122"/>
                <a:cs typeface="Sora Bold" pitchFamily="34" charset="-120"/>
              </a:rPr>
              <a:t>Deploy: ejecutarlo en Spaces evitó pagar por inferencia externa</a:t>
            </a:r>
            <a:endParaRPr lang="en-US" sz="4400" dirty="0"/>
          </a:p>
        </p:txBody>
      </p:sp>
      <p:sp>
        <p:nvSpPr>
          <p:cNvPr id="4" name="Shape 2"/>
          <p:cNvSpPr/>
          <p:nvPr/>
        </p:nvSpPr>
        <p:spPr>
          <a:xfrm>
            <a:off x="457189" y="2170410"/>
            <a:ext cx="3555911" cy="4230390"/>
          </a:xfrm>
          <a:prstGeom prst="roundRect">
            <a:avLst>
              <a:gd name="adj" fmla="val 2550"/>
            </a:avLst>
          </a:prstGeom>
          <a:solidFill>
            <a:srgbClr val="FFFFFF"/>
          </a:solidFill>
          <a:ln/>
        </p:spPr>
      </p:sp>
      <p:sp>
        <p:nvSpPr>
          <p:cNvPr id="5" name="Text 3"/>
          <p:cNvSpPr/>
          <p:nvPr/>
        </p:nvSpPr>
        <p:spPr>
          <a:xfrm>
            <a:off x="685783" y="2408091"/>
            <a:ext cx="3327317"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DECISIÓN</a:t>
            </a:r>
            <a:endParaRPr lang="en-US" sz="1100" dirty="0"/>
          </a:p>
        </p:txBody>
      </p:sp>
      <p:sp>
        <p:nvSpPr>
          <p:cNvPr id="6" name="Text 4"/>
          <p:cNvSpPr/>
          <p:nvPr/>
        </p:nvSpPr>
        <p:spPr>
          <a:xfrm>
            <a:off x="685783" y="3261543"/>
            <a:ext cx="3098722" cy="402332"/>
          </a:xfrm>
          <a:prstGeom prst="rect">
            <a:avLst/>
          </a:prstGeom>
          <a:noFill/>
          <a:ln/>
        </p:spPr>
        <p:txBody>
          <a:bodyPr wrap="none" lIns="0" tIns="0" rIns="0" bIns="0" rtlCol="0" anchor="t"/>
          <a:lstStyle/>
          <a:p>
            <a:pPr algn="ctr"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Hugging Face Spaces</a:t>
            </a:r>
            <a:endParaRPr lang="en-US" sz="2400" dirty="0"/>
          </a:p>
        </p:txBody>
      </p:sp>
      <p:sp>
        <p:nvSpPr>
          <p:cNvPr id="7" name="Text 5"/>
          <p:cNvSpPr/>
          <p:nvPr/>
        </p:nvSpPr>
        <p:spPr>
          <a:xfrm>
            <a:off x="685783" y="3834309"/>
            <a:ext cx="3098722" cy="1042789"/>
          </a:xfrm>
          <a:prstGeom prst="rect">
            <a:avLst/>
          </a:prstGeom>
          <a:noFill/>
          <a:ln/>
        </p:spPr>
        <p:txBody>
          <a:bodyPr wrap="square" lIns="0" tIns="0" rIns="0" bIns="0" rtlCol="0" anchor="t"/>
          <a:lstStyle/>
          <a:p>
            <a:pPr algn="ctr" indent="0" marL="0">
              <a:lnSpc>
                <a:spcPct val="115000"/>
              </a:lnSpc>
              <a:spcAft>
                <a:spcPts val="1150"/>
              </a:spcAft>
              <a:buNone/>
            </a:pPr>
            <a:endParaRPr lang="en-US" sz="1700" dirty="0"/>
          </a:p>
          <a:p>
            <a:pPr algn="ctr"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Gradio + pipeline local en el entorno de la app.</a:t>
            </a:r>
            <a:endParaRPr lang="en-US" sz="1700" dirty="0"/>
          </a:p>
        </p:txBody>
      </p:sp>
      <p:sp>
        <p:nvSpPr>
          <p:cNvPr id="8" name="Shape 6"/>
          <p:cNvSpPr/>
          <p:nvPr/>
        </p:nvSpPr>
        <p:spPr>
          <a:xfrm>
            <a:off x="4317892" y="2170410"/>
            <a:ext cx="3555911" cy="4230390"/>
          </a:xfrm>
          <a:prstGeom prst="roundRect">
            <a:avLst>
              <a:gd name="adj" fmla="val 2550"/>
            </a:avLst>
          </a:prstGeom>
          <a:solidFill>
            <a:srgbClr val="FFFFFF"/>
          </a:solidFill>
          <a:ln/>
        </p:spPr>
      </p:sp>
      <p:sp>
        <p:nvSpPr>
          <p:cNvPr id="9" name="Text 7"/>
          <p:cNvSpPr/>
          <p:nvPr/>
        </p:nvSpPr>
        <p:spPr>
          <a:xfrm>
            <a:off x="4546486" y="2408091"/>
            <a:ext cx="3327317"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ALTERNATIVA DESCARTADA</a:t>
            </a:r>
            <a:endParaRPr lang="en-US" sz="1100" dirty="0"/>
          </a:p>
        </p:txBody>
      </p:sp>
      <p:sp>
        <p:nvSpPr>
          <p:cNvPr id="10" name="Text 8"/>
          <p:cNvSpPr/>
          <p:nvPr/>
        </p:nvSpPr>
        <p:spPr>
          <a:xfrm>
            <a:off x="4546486" y="3261543"/>
            <a:ext cx="3098722" cy="804664"/>
          </a:xfrm>
          <a:prstGeom prst="rect">
            <a:avLst/>
          </a:prstGeom>
          <a:noFill/>
          <a:ln/>
        </p:spPr>
        <p:txBody>
          <a:bodyPr wrap="square" lIns="0" tIns="0" rIns="0" bIns="0" rtlCol="0" anchor="t">
            <a:normAutofit/>
          </a:bodyPr>
          <a:lstStyle/>
          <a:p>
            <a:pPr algn="ctr"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Render + InferenceClient</a:t>
            </a:r>
            <a:endParaRPr lang="en-US" sz="2400" dirty="0"/>
          </a:p>
        </p:txBody>
      </p:sp>
      <p:sp>
        <p:nvSpPr>
          <p:cNvPr id="11" name="Text 9"/>
          <p:cNvSpPr/>
          <p:nvPr/>
        </p:nvSpPr>
        <p:spPr>
          <a:xfrm>
            <a:off x="4546486" y="4243118"/>
            <a:ext cx="3098722" cy="595709"/>
          </a:xfrm>
          <a:prstGeom prst="rect">
            <a:avLst/>
          </a:prstGeom>
          <a:noFill/>
          <a:ln/>
        </p:spPr>
        <p:txBody>
          <a:bodyPr wrap="square" lIns="0" tIns="0" rIns="0" bIns="0" rtlCol="0" anchor="t">
            <a:normAutofit/>
          </a:bodyPr>
          <a:lstStyle/>
          <a:p>
            <a:pPr algn="ctr"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Se agotaron los créditos del servicio de inferencia.</a:t>
            </a:r>
            <a:endParaRPr lang="en-US" sz="1700" dirty="0"/>
          </a:p>
        </p:txBody>
      </p:sp>
      <p:sp>
        <p:nvSpPr>
          <p:cNvPr id="12" name="Shape 10"/>
          <p:cNvSpPr/>
          <p:nvPr/>
        </p:nvSpPr>
        <p:spPr>
          <a:xfrm>
            <a:off x="8178595" y="2170410"/>
            <a:ext cx="3555911" cy="4230390"/>
          </a:xfrm>
          <a:prstGeom prst="roundRect">
            <a:avLst>
              <a:gd name="adj" fmla="val 2550"/>
            </a:avLst>
          </a:prstGeom>
          <a:solidFill>
            <a:srgbClr val="FFFFFF"/>
          </a:solidFill>
          <a:ln/>
        </p:spPr>
      </p:sp>
      <p:sp>
        <p:nvSpPr>
          <p:cNvPr id="13" name="Text 11"/>
          <p:cNvSpPr/>
          <p:nvPr/>
        </p:nvSpPr>
        <p:spPr>
          <a:xfrm>
            <a:off x="8407190" y="2408091"/>
            <a:ext cx="3327317"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POR QUÉ</a:t>
            </a:r>
            <a:endParaRPr lang="en-US" sz="1100" dirty="0"/>
          </a:p>
        </p:txBody>
      </p:sp>
      <p:sp>
        <p:nvSpPr>
          <p:cNvPr id="14" name="Text 12"/>
          <p:cNvSpPr/>
          <p:nvPr/>
        </p:nvSpPr>
        <p:spPr>
          <a:xfrm>
            <a:off x="8407190" y="3261543"/>
            <a:ext cx="3098722" cy="402332"/>
          </a:xfrm>
          <a:prstGeom prst="rect">
            <a:avLst/>
          </a:prstGeom>
          <a:noFill/>
          <a:ln/>
        </p:spPr>
        <p:txBody>
          <a:bodyPr wrap="none" lIns="0" tIns="0" rIns="0" bIns="0" rtlCol="0" anchor="t"/>
          <a:lstStyle/>
          <a:p>
            <a:pPr algn="ctr"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Menos complejidad</a:t>
            </a:r>
            <a:endParaRPr lang="en-US" sz="2400" dirty="0"/>
          </a:p>
        </p:txBody>
      </p:sp>
      <p:sp>
        <p:nvSpPr>
          <p:cNvPr id="15" name="Text 13"/>
          <p:cNvSpPr/>
          <p:nvPr/>
        </p:nvSpPr>
        <p:spPr>
          <a:xfrm>
            <a:off x="8407190" y="3840786"/>
            <a:ext cx="3098722" cy="1489273"/>
          </a:xfrm>
          <a:prstGeom prst="rect">
            <a:avLst/>
          </a:prstGeom>
          <a:noFill/>
          <a:ln/>
        </p:spPr>
        <p:txBody>
          <a:bodyPr wrap="square" lIns="0" tIns="0" rIns="0" bIns="0" rtlCol="0" anchor="t">
            <a:normAutofit/>
          </a:bodyPr>
          <a:lstStyle/>
          <a:p>
            <a:pPr algn="ctr"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VPS y nubes elásticas daban más control o escala, pero agregaban complejidad innecesaria para una app pequeña y estudiantil.</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079873" cy="6885682"/>
          </a:xfrm>
          <a:prstGeom prst="rect">
            <a:avLst/>
          </a:prstGeom>
          <a:solidFill>
            <a:srgbClr val="083C35"/>
          </a:solidFill>
          <a:ln/>
        </p:spPr>
      </p:sp>
      <p:sp>
        <p:nvSpPr>
          <p:cNvPr id="3" name="Text 1"/>
          <p:cNvSpPr/>
          <p:nvPr/>
        </p:nvSpPr>
        <p:spPr>
          <a:xfrm>
            <a:off x="609585" y="567880"/>
            <a:ext cx="4470288"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FFFFFF"/>
                </a:solidFill>
                <a:latin typeface="IBM Plex Sans SemiBold" pitchFamily="34" charset="0"/>
                <a:ea typeface="IBM Plex Sans SemiBold" pitchFamily="34" charset="-122"/>
                <a:cs typeface="IBM Plex Sans SemiBold" pitchFamily="34" charset="-120"/>
              </a:rPr>
              <a:t>05 · DEMO PUBLICADA</a:t>
            </a:r>
            <a:endParaRPr lang="en-US" sz="1100" dirty="0"/>
          </a:p>
        </p:txBody>
      </p:sp>
      <p:sp>
        <p:nvSpPr>
          <p:cNvPr id="4" name="Text 2"/>
          <p:cNvSpPr/>
          <p:nvPr/>
        </p:nvSpPr>
        <p:spPr>
          <a:xfrm>
            <a:off x="609585" y="2075807"/>
            <a:ext cx="4013100" cy="1184473"/>
          </a:xfrm>
          <a:prstGeom prst="rect">
            <a:avLst/>
          </a:prstGeom>
          <a:noFill/>
          <a:ln/>
        </p:spPr>
        <p:txBody>
          <a:bodyPr wrap="square" lIns="0" tIns="0" rIns="0" bIns="0" rtlCol="0" anchor="t">
            <a:normAutofit/>
          </a:bodyPr>
          <a:lstStyle/>
          <a:p>
            <a:pPr algn="l" indent="0" marL="0">
              <a:lnSpc>
                <a:spcPct val="88000"/>
              </a:lnSpc>
              <a:buNone/>
            </a:pPr>
            <a:r>
              <a:rPr lang="en-US" sz="4400" b="1" spc="-88" kern="100" dirty="0">
                <a:solidFill>
                  <a:srgbClr val="FFFFFF"/>
                </a:solidFill>
                <a:latin typeface="Sora Bold" pitchFamily="34" charset="0"/>
                <a:ea typeface="Sora Bold" pitchFamily="34" charset="-122"/>
                <a:cs typeface="Sora Bold" pitchFamily="34" charset="-120"/>
              </a:rPr>
              <a:t>La demo está publicada</a:t>
            </a:r>
            <a:endParaRPr lang="en-US" sz="4400" dirty="0"/>
          </a:p>
        </p:txBody>
      </p:sp>
      <p:sp>
        <p:nvSpPr>
          <p:cNvPr id="5" name="Text 3"/>
          <p:cNvSpPr/>
          <p:nvPr/>
        </p:nvSpPr>
        <p:spPr>
          <a:xfrm>
            <a:off x="609585" y="3478339"/>
            <a:ext cx="4013100" cy="893564"/>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FFFFFF"/>
                </a:solidFill>
                <a:latin typeface="IBM Plex Sans" pitchFamily="34" charset="0"/>
                <a:ea typeface="IBM Plex Sans" pitchFamily="34" charset="-122"/>
                <a:cs typeface="IBM Plex Sans" pitchFamily="34" charset="-120"/>
              </a:rPr>
              <a:t>La app recibe una opinión y devuelve una etiqueta de estrellas junto con una confianza estimada.</a:t>
            </a:r>
            <a:endParaRPr lang="en-US" sz="1700" dirty="0"/>
          </a:p>
        </p:txBody>
      </p:sp>
      <p:sp>
        <p:nvSpPr>
          <p:cNvPr id="6" name="Text 4"/>
          <p:cNvSpPr/>
          <p:nvPr/>
        </p:nvSpPr>
        <p:spPr>
          <a:xfrm>
            <a:off x="609585" y="5673165"/>
            <a:ext cx="4470288" cy="184348"/>
          </a:xfrm>
          <a:prstGeom prst="rect">
            <a:avLst/>
          </a:prstGeom>
          <a:noFill/>
          <a:ln/>
        </p:spPr>
        <p:txBody>
          <a:bodyPr wrap="none" lIns="0" tIns="0" rIns="0" bIns="0" rtlCol="0" anchor="t"/>
          <a:lstStyle/>
          <a:p>
            <a:pPr algn="l" indent="0" marL="0">
              <a:lnSpc>
                <a:spcPct val="110000"/>
              </a:lnSpc>
              <a:buNone/>
            </a:pPr>
            <a:r>
              <a:rPr lang="en-US" sz="1100" dirty="0">
                <a:solidFill>
                  <a:srgbClr val="FFFFFF"/>
                </a:solidFill>
                <a:latin typeface="IBM Plex Sans" pitchFamily="34" charset="0"/>
                <a:ea typeface="IBM Plex Sans" pitchFamily="34" charset="-122"/>
                <a:cs typeface="IBM Plex Sans" pitchFamily="34" charset="-120"/>
              </a:rPr>
              <a:t>Demo en vivo</a:t>
            </a:r>
            <a:endParaRPr lang="en-US" sz="1100" dirty="0"/>
          </a:p>
        </p:txBody>
      </p:sp>
      <p:sp>
        <p:nvSpPr>
          <p:cNvPr id="7" name="Text 5"/>
          <p:cNvSpPr/>
          <p:nvPr/>
        </p:nvSpPr>
        <p:spPr>
          <a:xfrm>
            <a:off x="609585" y="6086304"/>
            <a:ext cx="4470288" cy="297855"/>
          </a:xfrm>
          <a:prstGeom prst="rect">
            <a:avLst/>
          </a:prstGeom>
          <a:noFill/>
          <a:ln/>
        </p:spPr>
        <p:txBody>
          <a:bodyPr wrap="none" lIns="0" tIns="0" rIns="0" bIns="0" rtlCol="0" anchor="t"/>
          <a:lstStyle/>
          <a:p>
            <a:pPr algn="l" indent="0" marL="0">
              <a:lnSpc>
                <a:spcPct val="115000"/>
              </a:lnSpc>
              <a:buNone/>
            </a:pPr>
            <a:r>
              <a:rPr lang="en-US" sz="1700" b="1" u="sng" dirty="0">
                <a:solidFill>
                  <a:srgbClr val="18B49F"/>
                </a:solidFill>
                <a:latin typeface="IBM Plex Sans Bold" pitchFamily="34" charset="0"/>
                <a:ea typeface="IBM Plex Sans Bold" pitchFamily="34" charset="-122"/>
                <a:cs typeface="IBM Plex Sans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Abrir la app en Hugging Face Spaces</a:t>
            </a:r>
            <a:endParaRPr lang="en-US" sz="1700" dirty="0"/>
          </a:p>
        </p:txBody>
      </p:sp>
      <p:pic>
        <p:nvPicPr>
          <p:cNvPr id="8" name="Image 0" descr="preencoded.png">    </p:cNvPr>
          <p:cNvPicPr>
            <a:picLocks noChangeAspect="1"/>
          </p:cNvPicPr>
          <p:nvPr/>
        </p:nvPicPr>
        <p:blipFill>
          <a:blip r:embed="rId2"/>
          <a:stretch>
            <a:fillRect/>
          </a:stretch>
        </p:blipFill>
        <p:spPr>
          <a:xfrm>
            <a:off x="5435464" y="2184400"/>
            <a:ext cx="6146646" cy="1786434"/>
          </a:xfrm>
          <a:prstGeom prst="rect">
            <a:avLst/>
          </a:prstGeom>
        </p:spPr>
      </p:pic>
      <p:sp>
        <p:nvSpPr>
          <p:cNvPr id="9" name="Text 6"/>
          <p:cNvSpPr/>
          <p:nvPr/>
        </p:nvSpPr>
        <p:spPr>
          <a:xfrm>
            <a:off x="5435464" y="4320020"/>
            <a:ext cx="6756231" cy="184348"/>
          </a:xfrm>
          <a:prstGeom prst="rect">
            <a:avLst/>
          </a:prstGeom>
          <a:noFill/>
          <a:ln/>
        </p:spPr>
        <p:txBody>
          <a:bodyPr wrap="none" lIns="0" tIns="0" rIns="0" bIns="0" rtlCol="0" anchor="t"/>
          <a:lstStyle/>
          <a:p>
            <a:pPr algn="l" indent="0" marL="0">
              <a:lnSpc>
                <a:spcPct val="110000"/>
              </a:lnSpc>
              <a:buNone/>
            </a:pPr>
            <a:r>
              <a:rPr lang="en-US" sz="1100" b="1" u="sng" dirty="0">
                <a:solidFill>
                  <a:srgbClr val="083C35"/>
                </a:solidFill>
                <a:latin typeface="IBM Plex Sans Bold" pitchFamily="34" charset="0"/>
                <a:ea typeface="IBM Plex Sans Bold" pitchFamily="34" charset="-122"/>
                <a:cs typeface="IBM Plex Sans Bold"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enlace</a:t>
            </a:r>
            <a:pPr algn="l" indent="0" marL="0">
              <a:lnSpc>
                <a:spcPct val="110000"/>
              </a:lnSpc>
              <a:buNone/>
            </a:pPr>
            <a:r>
              <a:rPr lang="en-US" sz="1100" dirty="0">
                <a:solidFill>
                  <a:srgbClr val="5F6D68"/>
                </a:solidFill>
                <a:latin typeface="IBM Plex Sans" pitchFamily="34" charset="0"/>
                <a:ea typeface="IBM Plex Sans" pitchFamily="34" charset="-122"/>
                <a:cs typeface="IBM Plex Sans" pitchFamily="34" charset="-120"/>
              </a:rPr>
              <a:t> queda disponible como demo en vivo.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689458" cy="6858000"/>
          </a:xfrm>
          <a:prstGeom prst="rect">
            <a:avLst/>
          </a:prstGeom>
          <a:solidFill>
            <a:srgbClr val="083C35"/>
          </a:solidFill>
          <a:ln/>
        </p:spPr>
      </p:sp>
      <p:sp>
        <p:nvSpPr>
          <p:cNvPr id="3" name="Text 1"/>
          <p:cNvSpPr/>
          <p:nvPr/>
        </p:nvSpPr>
        <p:spPr>
          <a:xfrm>
            <a:off x="609585" y="542480"/>
            <a:ext cx="5079873"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FFFFFF"/>
                </a:solidFill>
                <a:latin typeface="IBM Plex Sans SemiBold" pitchFamily="34" charset="0"/>
                <a:ea typeface="IBM Plex Sans SemiBold" pitchFamily="34" charset="-122"/>
                <a:cs typeface="IBM Plex Sans SemiBold" pitchFamily="34" charset="-120"/>
              </a:rPr>
              <a:t>06 · GIRO DE LA HISTORIA- ERRORES</a:t>
            </a:r>
            <a:endParaRPr lang="en-US" sz="1100" dirty="0"/>
          </a:p>
        </p:txBody>
      </p:sp>
      <p:sp>
        <p:nvSpPr>
          <p:cNvPr id="4" name="Text 2"/>
          <p:cNvSpPr/>
          <p:nvPr/>
        </p:nvSpPr>
        <p:spPr>
          <a:xfrm>
            <a:off x="609585" y="3173762"/>
            <a:ext cx="4648084" cy="2368947"/>
          </a:xfrm>
          <a:prstGeom prst="rect">
            <a:avLst/>
          </a:prstGeom>
          <a:noFill/>
          <a:ln/>
        </p:spPr>
        <p:txBody>
          <a:bodyPr wrap="square" lIns="0" tIns="0" rIns="0" bIns="0" rtlCol="0" anchor="t">
            <a:normAutofit/>
          </a:bodyPr>
          <a:lstStyle/>
          <a:p>
            <a:pPr algn="l" indent="0" marL="0">
              <a:lnSpc>
                <a:spcPct val="88000"/>
              </a:lnSpc>
              <a:buNone/>
            </a:pPr>
            <a:r>
              <a:rPr lang="en-US" sz="4400" b="1" spc="-88" kern="100" dirty="0">
                <a:solidFill>
                  <a:srgbClr val="FFFFFF"/>
                </a:solidFill>
                <a:latin typeface="Sora Bold" pitchFamily="34" charset="0"/>
                <a:ea typeface="Sora Bold" pitchFamily="34" charset="-122"/>
                <a:cs typeface="Sora Bold" pitchFamily="34" charset="-120"/>
              </a:rPr>
              <a:t>El error más útil fue el que cambió la arquitectura</a:t>
            </a:r>
            <a:endParaRPr lang="en-US" sz="4400" dirty="0"/>
          </a:p>
        </p:txBody>
      </p:sp>
      <p:sp>
        <p:nvSpPr>
          <p:cNvPr id="5" name="Text 3"/>
          <p:cNvSpPr/>
          <p:nvPr/>
        </p:nvSpPr>
        <p:spPr>
          <a:xfrm>
            <a:off x="609585" y="5760768"/>
            <a:ext cx="4648084"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FFFFFF"/>
                </a:solidFill>
                <a:latin typeface="IBM Plex Sans" pitchFamily="34" charset="0"/>
                <a:ea typeface="IBM Plex Sans" pitchFamily="34" charset="-122"/>
                <a:cs typeface="IBM Plex Sans" pitchFamily="34" charset="-120"/>
              </a:rPr>
              <a:t>El problema dejó de ser solamente técnico: cambió la ruta de inferencia.</a:t>
            </a:r>
            <a:endParaRPr lang="en-US" sz="1700" dirty="0"/>
          </a:p>
        </p:txBody>
      </p:sp>
      <p:sp>
        <p:nvSpPr>
          <p:cNvPr id="6" name="Text 4"/>
          <p:cNvSpPr/>
          <p:nvPr/>
        </p:nvSpPr>
        <p:spPr>
          <a:xfrm>
            <a:off x="6045049" y="547116"/>
            <a:ext cx="5537061" cy="402332"/>
          </a:xfrm>
          <a:prstGeom prst="rect">
            <a:avLst/>
          </a:prstGeom>
          <a:noFill/>
          <a:ln/>
        </p:spPr>
        <p:txBody>
          <a:bodyPr wrap="none" lIns="0" tIns="0" rIns="0" bIns="0" rtlCol="0" anchor="t"/>
          <a:lstStyle/>
          <a:p>
            <a:pPr algn="l"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402 Payment Required</a:t>
            </a:r>
            <a:endParaRPr lang="en-US" sz="2400" dirty="0"/>
          </a:p>
        </p:txBody>
      </p:sp>
      <p:sp>
        <p:nvSpPr>
          <p:cNvPr id="7" name="Text 5"/>
          <p:cNvSpPr/>
          <p:nvPr/>
        </p:nvSpPr>
        <p:spPr>
          <a:xfrm>
            <a:off x="6045049" y="1119882"/>
            <a:ext cx="5537061" cy="1122164"/>
          </a:xfrm>
          <a:prstGeom prst="rect">
            <a:avLst/>
          </a:prstGeom>
          <a:noFill/>
          <a:ln/>
        </p:spPr>
        <p:txBody>
          <a:bodyPr wrap="square" lIns="0" tIns="0" rIns="0" bIns="0" rtlCol="0" anchor="t">
            <a:normAutofit/>
          </a:bodyPr>
          <a:lstStyle/>
          <a:p>
            <a:pPr algn="l" indent="0" marL="0">
              <a:lnSpc>
                <a:spcPct val="115000"/>
              </a:lnSpc>
              <a:spcAft>
                <a:spcPts val="1750"/>
              </a:spcAft>
              <a:buNone/>
            </a:pPr>
            <a:r>
              <a:rPr lang="en-US" sz="1700" dirty="0">
                <a:solidFill>
                  <a:srgbClr val="10201D"/>
                </a:solidFill>
                <a:latin typeface="IBM Plex Sans" pitchFamily="34" charset="0"/>
                <a:ea typeface="IBM Plex Sans" pitchFamily="34" charset="-122"/>
                <a:cs typeface="IBM Plex Sans" pitchFamily="34" charset="-120"/>
              </a:rPr>
              <a:t>InferenceClient devolvió este error cuando se agotaron los créditos disponibles.</a:t>
            </a:r>
            <a:endParaRPr lang="en-US" sz="1700" dirty="0"/>
          </a:p>
        </p:txBody>
      </p:sp>
      <p:sp>
        <p:nvSpPr>
          <p:cNvPr id="8" name="Text 6"/>
          <p:cNvSpPr/>
          <p:nvPr/>
        </p:nvSpPr>
        <p:spPr>
          <a:xfrm>
            <a:off x="6045049" y="2690737"/>
            <a:ext cx="5537061" cy="402332"/>
          </a:xfrm>
          <a:prstGeom prst="rect">
            <a:avLst/>
          </a:prstGeom>
          <a:noFill/>
          <a:ln/>
        </p:spPr>
        <p:txBody>
          <a:bodyPr wrap="none" lIns="0" tIns="0" rIns="0" bIns="0" rtlCol="0" anchor="t"/>
          <a:lstStyle/>
          <a:p>
            <a:pPr algn="l"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Invocación incorrecta</a:t>
            </a:r>
            <a:endParaRPr lang="en-US" sz="2400" dirty="0"/>
          </a:p>
        </p:txBody>
      </p:sp>
      <p:sp>
        <p:nvSpPr>
          <p:cNvPr id="9" name="Text 7"/>
          <p:cNvSpPr/>
          <p:nvPr/>
        </p:nvSpPr>
        <p:spPr>
          <a:xfrm>
            <a:off x="6045049" y="3263503"/>
            <a:ext cx="5537061" cy="1122164"/>
          </a:xfrm>
          <a:prstGeom prst="rect">
            <a:avLst/>
          </a:prstGeom>
          <a:noFill/>
          <a:ln/>
        </p:spPr>
        <p:txBody>
          <a:bodyPr wrap="square" lIns="0" tIns="0" rIns="0" bIns="0" rtlCol="0" anchor="t">
            <a:normAutofit/>
          </a:bodyPr>
          <a:lstStyle/>
          <a:p>
            <a:pPr algn="l" indent="0" marL="0">
              <a:lnSpc>
                <a:spcPct val="115000"/>
              </a:lnSpc>
              <a:spcAft>
                <a:spcPts val="1750"/>
              </a:spcAft>
              <a:buNone/>
            </a:pPr>
            <a:r>
              <a:rPr lang="en-US" sz="1700" dirty="0">
                <a:solidFill>
                  <a:srgbClr val="10201D"/>
                </a:solidFill>
                <a:latin typeface="IBM Plex Sans" pitchFamily="34" charset="0"/>
                <a:ea typeface="IBM Plex Sans" pitchFamily="34" charset="-122"/>
                <a:cs typeface="IBM Plex Sans" pitchFamily="34" charset="-120"/>
              </a:rPr>
              <a:t>También apareció un error al invocar el cliente como si fuera una función.</a:t>
            </a:r>
            <a:endParaRPr lang="en-US" sz="1700" dirty="0"/>
          </a:p>
        </p:txBody>
      </p:sp>
      <p:sp>
        <p:nvSpPr>
          <p:cNvPr id="10" name="Text 8"/>
          <p:cNvSpPr/>
          <p:nvPr/>
        </p:nvSpPr>
        <p:spPr>
          <a:xfrm>
            <a:off x="6045049" y="4834358"/>
            <a:ext cx="5537061" cy="402332"/>
          </a:xfrm>
          <a:prstGeom prst="rect">
            <a:avLst/>
          </a:prstGeom>
          <a:noFill/>
          <a:ln/>
        </p:spPr>
        <p:txBody>
          <a:bodyPr wrap="none" lIns="0" tIns="0" rIns="0" bIns="0" rtlCol="0" anchor="t"/>
          <a:lstStyle/>
          <a:p>
            <a:pPr algn="l"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Corrección</a:t>
            </a:r>
            <a:endParaRPr lang="en-US" sz="2400" dirty="0"/>
          </a:p>
        </p:txBody>
      </p:sp>
      <p:sp>
        <p:nvSpPr>
          <p:cNvPr id="11" name="Text 9"/>
          <p:cNvSpPr/>
          <p:nvPr/>
        </p:nvSpPr>
        <p:spPr>
          <a:xfrm>
            <a:off x="6045049" y="5413601"/>
            <a:ext cx="5537061"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Usar </a:t>
            </a:r>
            <a:pPr algn="l" indent="0" marL="0">
              <a:lnSpc>
                <a:spcPct val="115000"/>
              </a:lnSpc>
              <a:buNone/>
            </a:pPr>
            <a:r>
              <a:rPr lang="en-US" sz="1700" b="1" dirty="0">
                <a:solidFill>
                  <a:srgbClr val="10201D"/>
                </a:solidFill>
                <a:latin typeface="IBM Plex Sans Bold" pitchFamily="34" charset="0"/>
                <a:ea typeface="IBM Plex Sans Bold" pitchFamily="34" charset="-122"/>
                <a:cs typeface="IBM Plex Sans Bold" pitchFamily="34" charset="-120"/>
              </a:rPr>
              <a:t>text_classification()</a:t>
            </a:r>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 y diseñar el deploy sin depender de créditos externos.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2119610"/>
          </a:xfrm>
          <a:prstGeom prst="rect">
            <a:avLst/>
          </a:prstGeom>
          <a:solidFill>
            <a:srgbClr val="083C35"/>
          </a:solidFill>
          <a:ln/>
        </p:spPr>
      </p:sp>
      <p:sp>
        <p:nvSpPr>
          <p:cNvPr id="3" name="Text 1"/>
          <p:cNvSpPr/>
          <p:nvPr/>
        </p:nvSpPr>
        <p:spPr>
          <a:xfrm>
            <a:off x="609585" y="364680"/>
            <a:ext cx="11582110"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FFFFFF"/>
                </a:solidFill>
                <a:latin typeface="IBM Plex Sans SemiBold" pitchFamily="34" charset="0"/>
                <a:ea typeface="IBM Plex Sans SemiBold" pitchFamily="34" charset="-122"/>
                <a:cs typeface="IBM Plex Sans SemiBold" pitchFamily="34" charset="-120"/>
              </a:rPr>
              <a:t>07 · LÍMITES ACTUALES</a:t>
            </a:r>
            <a:endParaRPr lang="en-US" sz="1100" dirty="0"/>
          </a:p>
        </p:txBody>
      </p:sp>
      <p:sp>
        <p:nvSpPr>
          <p:cNvPr id="4" name="Text 2"/>
          <p:cNvSpPr/>
          <p:nvPr/>
        </p:nvSpPr>
        <p:spPr>
          <a:xfrm>
            <a:off x="609585" y="672755"/>
            <a:ext cx="10972526" cy="1184473"/>
          </a:xfrm>
          <a:prstGeom prst="rect">
            <a:avLst/>
          </a:prstGeom>
          <a:noFill/>
          <a:ln/>
        </p:spPr>
        <p:txBody>
          <a:bodyPr wrap="square" lIns="0" tIns="0" rIns="0" bIns="0" rtlCol="0" anchor="t">
            <a:normAutofit/>
          </a:bodyPr>
          <a:lstStyle/>
          <a:p>
            <a:pPr algn="ctr" indent="0" marL="0">
              <a:lnSpc>
                <a:spcPct val="88000"/>
              </a:lnSpc>
              <a:buNone/>
            </a:pPr>
            <a:r>
              <a:rPr lang="en-US" sz="4400" b="1" spc="-88" kern="100" dirty="0">
                <a:solidFill>
                  <a:srgbClr val="FFFFFF"/>
                </a:solidFill>
                <a:latin typeface="Sora Bold" pitchFamily="34" charset="0"/>
                <a:ea typeface="Sora Bold" pitchFamily="34" charset="-122"/>
                <a:cs typeface="Sora Bold" pitchFamily="34" charset="-120"/>
              </a:rPr>
              <a:t>Funciona como demo; todavía no como producto masivo</a:t>
            </a:r>
            <a:endParaRPr lang="en-US" sz="4400" dirty="0"/>
          </a:p>
        </p:txBody>
      </p:sp>
      <p:pic>
        <p:nvPicPr>
          <p:cNvPr id="5" name="Image 0" descr="preencoded.png">    </p:cNvPr>
          <p:cNvPicPr>
            <a:picLocks noChangeAspect="1"/>
          </p:cNvPicPr>
          <p:nvPr/>
        </p:nvPicPr>
        <p:blipFill>
          <a:blip r:embed="rId1"/>
          <a:stretch>
            <a:fillRect/>
          </a:stretch>
        </p:blipFill>
        <p:spPr>
          <a:xfrm>
            <a:off x="914377" y="2932394"/>
            <a:ext cx="431789" cy="431800"/>
          </a:xfrm>
          <a:prstGeom prst="rect">
            <a:avLst/>
          </a:prstGeom>
        </p:spPr>
      </p:pic>
      <p:sp>
        <p:nvSpPr>
          <p:cNvPr id="6" name="Text 3"/>
          <p:cNvSpPr/>
          <p:nvPr/>
        </p:nvSpPr>
        <p:spPr>
          <a:xfrm>
            <a:off x="1562061" y="2946126"/>
            <a:ext cx="1993850" cy="402332"/>
          </a:xfrm>
          <a:prstGeom prst="rect">
            <a:avLst/>
          </a:prstGeom>
          <a:noFill/>
          <a:ln/>
        </p:spPr>
        <p:txBody>
          <a:bodyPr wrap="none" lIns="0" tIns="0" rIns="0" bIns="0" rtlCol="0" anchor="t"/>
          <a:lstStyle/>
          <a:p>
            <a:pPr algn="ctr"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Capacidad</a:t>
            </a:r>
            <a:endParaRPr lang="en-US" sz="2400" dirty="0"/>
          </a:p>
        </p:txBody>
      </p:sp>
      <p:sp>
        <p:nvSpPr>
          <p:cNvPr id="7" name="Text 4"/>
          <p:cNvSpPr/>
          <p:nvPr/>
        </p:nvSpPr>
        <p:spPr>
          <a:xfrm>
            <a:off x="1562061" y="3518892"/>
            <a:ext cx="1993850" cy="2015728"/>
          </a:xfrm>
          <a:prstGeom prst="rect">
            <a:avLst/>
          </a:prstGeom>
          <a:noFill/>
          <a:ln/>
        </p:spPr>
        <p:txBody>
          <a:bodyPr wrap="square" lIns="0" tIns="0" rIns="0" bIns="0" rtlCol="0" anchor="t"/>
          <a:lstStyle/>
          <a:p>
            <a:pPr algn="ctr" indent="0" marL="0">
              <a:lnSpc>
                <a:spcPct val="115000"/>
              </a:lnSpc>
              <a:spcAft>
                <a:spcPts val="1750"/>
              </a:spcAft>
              <a:buNone/>
            </a:pPr>
            <a:endParaRPr lang="en-US" sz="1700" dirty="0"/>
          </a:p>
          <a:p>
            <a:pPr algn="ctr"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Con 1.000 usuarios simultáneos podrían aparecer colas, demoras o falta de recursos.</a:t>
            </a:r>
            <a:endParaRPr lang="en-US" sz="1700" dirty="0"/>
          </a:p>
        </p:txBody>
      </p:sp>
      <p:pic>
        <p:nvPicPr>
          <p:cNvPr id="8" name="Image 1" descr="preencoded.png">    </p:cNvPr>
          <p:cNvPicPr>
            <a:picLocks noChangeAspect="1"/>
          </p:cNvPicPr>
          <p:nvPr/>
        </p:nvPicPr>
        <p:blipFill>
          <a:blip r:embed="rId2"/>
          <a:stretch>
            <a:fillRect/>
          </a:stretch>
        </p:blipFill>
        <p:spPr>
          <a:xfrm>
            <a:off x="4775081" y="2932394"/>
            <a:ext cx="431789" cy="431800"/>
          </a:xfrm>
          <a:prstGeom prst="rect">
            <a:avLst/>
          </a:prstGeom>
        </p:spPr>
      </p:pic>
      <p:sp>
        <p:nvSpPr>
          <p:cNvPr id="9" name="Text 5"/>
          <p:cNvSpPr/>
          <p:nvPr/>
        </p:nvSpPr>
        <p:spPr>
          <a:xfrm>
            <a:off x="5422764" y="2946126"/>
            <a:ext cx="1993850" cy="402332"/>
          </a:xfrm>
          <a:prstGeom prst="rect">
            <a:avLst/>
          </a:prstGeom>
          <a:noFill/>
          <a:ln/>
        </p:spPr>
        <p:txBody>
          <a:bodyPr wrap="none" lIns="0" tIns="0" rIns="0" bIns="0" rtlCol="0" anchor="t"/>
          <a:lstStyle/>
          <a:p>
            <a:pPr algn="ctr"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Dependencias</a:t>
            </a:r>
            <a:endParaRPr lang="en-US" sz="2400" dirty="0"/>
          </a:p>
        </p:txBody>
      </p:sp>
      <p:sp>
        <p:nvSpPr>
          <p:cNvPr id="10" name="Text 6"/>
          <p:cNvSpPr/>
          <p:nvPr/>
        </p:nvSpPr>
        <p:spPr>
          <a:xfrm>
            <a:off x="5422764" y="3518892"/>
            <a:ext cx="1993850" cy="2313583"/>
          </a:xfrm>
          <a:prstGeom prst="rect">
            <a:avLst/>
          </a:prstGeom>
          <a:noFill/>
          <a:ln/>
        </p:spPr>
        <p:txBody>
          <a:bodyPr wrap="square" lIns="0" tIns="0" rIns="0" bIns="0" rtlCol="0" anchor="t">
            <a:normAutofit/>
          </a:bodyPr>
          <a:lstStyle/>
          <a:p>
            <a:pPr algn="ctr" indent="0" marL="0">
              <a:lnSpc>
                <a:spcPct val="115000"/>
              </a:lnSpc>
              <a:spcAft>
                <a:spcPts val="1750"/>
              </a:spcAft>
              <a:buNone/>
            </a:pPr>
            <a:r>
              <a:rPr lang="en-US" sz="1700" dirty="0">
                <a:solidFill>
                  <a:srgbClr val="10201D"/>
                </a:solidFill>
                <a:latin typeface="IBM Plex Sans" pitchFamily="34" charset="0"/>
                <a:ea typeface="IBM Plex Sans" pitchFamily="34" charset="-122"/>
                <a:cs typeface="IBM Plex Sans" pitchFamily="34" charset="-120"/>
              </a:rPr>
              <a:t>Hay dependencia de las condiciones del plan gratuito</a:t>
            </a:r>
            <a:endParaRPr lang="en-US" sz="1700" dirty="0"/>
          </a:p>
          <a:p>
            <a:pPr algn="ctr"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Falta validar el comportamiento con más variedad de opiniones.</a:t>
            </a:r>
            <a:endParaRPr lang="en-US" sz="1700" dirty="0"/>
          </a:p>
        </p:txBody>
      </p:sp>
      <p:pic>
        <p:nvPicPr>
          <p:cNvPr id="11" name="Image 2" descr="preencoded.png">    </p:cNvPr>
          <p:cNvPicPr>
            <a:picLocks noChangeAspect="1"/>
          </p:cNvPicPr>
          <p:nvPr/>
        </p:nvPicPr>
        <p:blipFill>
          <a:blip r:embed="rId3"/>
          <a:stretch>
            <a:fillRect/>
          </a:stretch>
        </p:blipFill>
        <p:spPr>
          <a:xfrm>
            <a:off x="8635784" y="2932394"/>
            <a:ext cx="431789" cy="431800"/>
          </a:xfrm>
          <a:prstGeom prst="rect">
            <a:avLst/>
          </a:prstGeom>
        </p:spPr>
      </p:pic>
      <p:sp>
        <p:nvSpPr>
          <p:cNvPr id="12" name="Text 7"/>
          <p:cNvSpPr/>
          <p:nvPr/>
        </p:nvSpPr>
        <p:spPr>
          <a:xfrm>
            <a:off x="9283468" y="2946126"/>
            <a:ext cx="1993850" cy="1206996"/>
          </a:xfrm>
          <a:prstGeom prst="rect">
            <a:avLst/>
          </a:prstGeom>
          <a:noFill/>
          <a:ln/>
        </p:spPr>
        <p:txBody>
          <a:bodyPr wrap="square" lIns="0" tIns="0" rIns="0" bIns="0" rtlCol="0" anchor="t">
            <a:normAutofit/>
          </a:bodyPr>
          <a:lstStyle/>
          <a:p>
            <a:pPr algn="ctr"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Para convertirla en producto</a:t>
            </a:r>
            <a:endParaRPr lang="en-US" sz="2400" dirty="0"/>
          </a:p>
        </p:txBody>
      </p:sp>
      <p:sp>
        <p:nvSpPr>
          <p:cNvPr id="13" name="Text 8"/>
          <p:cNvSpPr/>
          <p:nvPr/>
        </p:nvSpPr>
        <p:spPr>
          <a:xfrm>
            <a:off x="9283468" y="4330033"/>
            <a:ext cx="1993850" cy="1787128"/>
          </a:xfrm>
          <a:prstGeom prst="rect">
            <a:avLst/>
          </a:prstGeom>
          <a:noFill/>
          <a:ln/>
        </p:spPr>
        <p:txBody>
          <a:bodyPr wrap="square" lIns="0" tIns="0" rIns="0" bIns="0" rtlCol="0" anchor="t">
            <a:normAutofit/>
          </a:bodyPr>
          <a:lstStyle/>
          <a:p>
            <a:pPr algn="ctr"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Escalar, monitorear, manejar errores, proteger datos, medir calidad y definir costos y soporte.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4876678" cy="6929338"/>
          </a:xfrm>
          <a:prstGeom prst="rect">
            <a:avLst/>
          </a:prstGeom>
          <a:solidFill>
            <a:srgbClr val="083C35"/>
          </a:solidFill>
          <a:ln/>
        </p:spPr>
      </p:sp>
      <p:sp>
        <p:nvSpPr>
          <p:cNvPr id="3" name="Text 1"/>
          <p:cNvSpPr/>
          <p:nvPr/>
        </p:nvSpPr>
        <p:spPr>
          <a:xfrm>
            <a:off x="609585" y="542480"/>
            <a:ext cx="4267093"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FFFFFF"/>
                </a:solidFill>
                <a:latin typeface="IBM Plex Sans SemiBold" pitchFamily="34" charset="0"/>
                <a:ea typeface="IBM Plex Sans SemiBold" pitchFamily="34" charset="-122"/>
                <a:cs typeface="IBM Plex Sans SemiBold" pitchFamily="34" charset="-120"/>
              </a:rPr>
              <a:t>08 · VALIDACIÓN</a:t>
            </a:r>
            <a:endParaRPr lang="en-US" sz="1100" dirty="0"/>
          </a:p>
        </p:txBody>
      </p:sp>
      <p:sp>
        <p:nvSpPr>
          <p:cNvPr id="4" name="Text 2"/>
          <p:cNvSpPr/>
          <p:nvPr/>
        </p:nvSpPr>
        <p:spPr>
          <a:xfrm>
            <a:off x="609585" y="2609009"/>
            <a:ext cx="3835304" cy="2961184"/>
          </a:xfrm>
          <a:prstGeom prst="rect">
            <a:avLst/>
          </a:prstGeom>
          <a:noFill/>
          <a:ln/>
        </p:spPr>
        <p:txBody>
          <a:bodyPr wrap="square" lIns="0" tIns="0" rIns="0" bIns="0" rtlCol="0" anchor="t">
            <a:normAutofit/>
          </a:bodyPr>
          <a:lstStyle/>
          <a:p>
            <a:pPr algn="l" indent="0" marL="0">
              <a:lnSpc>
                <a:spcPct val="88000"/>
              </a:lnSpc>
              <a:buNone/>
            </a:pPr>
            <a:r>
              <a:rPr lang="en-US" sz="4400" b="1" spc="-88" kern="100" dirty="0">
                <a:solidFill>
                  <a:srgbClr val="FFFFFF"/>
                </a:solidFill>
                <a:latin typeface="Sora Bold" pitchFamily="34" charset="0"/>
                <a:ea typeface="Sora Bold" pitchFamily="34" charset="-122"/>
                <a:cs typeface="Sora Bold" pitchFamily="34" charset="-120"/>
              </a:rPr>
              <a:t>Próximo paso: validar si la señal ayuda a decidir mejor</a:t>
            </a:r>
            <a:endParaRPr lang="en-US" sz="4400" dirty="0"/>
          </a:p>
        </p:txBody>
      </p:sp>
      <p:sp>
        <p:nvSpPr>
          <p:cNvPr id="5" name="Text 3"/>
          <p:cNvSpPr/>
          <p:nvPr/>
        </p:nvSpPr>
        <p:spPr>
          <a:xfrm>
            <a:off x="609585" y="5788251"/>
            <a:ext cx="3835304" cy="893564"/>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FFFFFF"/>
                </a:solidFill>
                <a:latin typeface="IBM Plex Sans" pitchFamily="34" charset="0"/>
                <a:ea typeface="IBM Plex Sans" pitchFamily="34" charset="-122"/>
                <a:cs typeface="IBM Plex Sans" pitchFamily="34" charset="-120"/>
              </a:rPr>
              <a:t>Antes de comprometer una infraestructura mayor, hay que medir utilidad y comportamiento.</a:t>
            </a:r>
            <a:endParaRPr lang="en-US" sz="1700" dirty="0"/>
          </a:p>
        </p:txBody>
      </p:sp>
      <p:sp>
        <p:nvSpPr>
          <p:cNvPr id="6" name="Shape 4"/>
          <p:cNvSpPr/>
          <p:nvPr/>
        </p:nvSpPr>
        <p:spPr>
          <a:xfrm>
            <a:off x="5257668" y="718145"/>
            <a:ext cx="392500" cy="392509"/>
          </a:xfrm>
          <a:prstGeom prst="ellipse">
            <a:avLst/>
          </a:prstGeom>
          <a:solidFill>
            <a:srgbClr val="0A7C78"/>
          </a:solidFill>
          <a:ln w="12700">
            <a:solidFill>
              <a:srgbClr val="CBCFC0"/>
            </a:solidFill>
            <a:prstDash val="solid"/>
          </a:ln>
        </p:spPr>
      </p:sp>
      <p:sp>
        <p:nvSpPr>
          <p:cNvPr id="7" name="Text 5"/>
          <p:cNvSpPr/>
          <p:nvPr/>
        </p:nvSpPr>
        <p:spPr>
          <a:xfrm>
            <a:off x="5324342" y="806450"/>
            <a:ext cx="868738"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IBM Plex Sans SemiBold" pitchFamily="34" charset="0"/>
                <a:ea typeface="IBM Plex Sans SemiBold" pitchFamily="34" charset="-122"/>
                <a:cs typeface="IBM Plex Sans SemiBold" pitchFamily="34" charset="-120"/>
              </a:rPr>
              <a:t>01</a:t>
            </a:r>
            <a:endParaRPr lang="en-US" sz="1700" dirty="0"/>
          </a:p>
        </p:txBody>
      </p:sp>
      <p:sp>
        <p:nvSpPr>
          <p:cNvPr id="8" name="Text 6"/>
          <p:cNvSpPr/>
          <p:nvPr/>
        </p:nvSpPr>
        <p:spPr>
          <a:xfrm>
            <a:off x="5802564" y="699516"/>
            <a:ext cx="5703348" cy="402332"/>
          </a:xfrm>
          <a:prstGeom prst="rect">
            <a:avLst/>
          </a:prstGeom>
          <a:noFill/>
          <a:ln/>
        </p:spPr>
        <p:txBody>
          <a:bodyPr wrap="none" lIns="0" tIns="0" rIns="0" bIns="0" rtlCol="0" anchor="t"/>
          <a:lstStyle/>
          <a:p>
            <a:pPr algn="l"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Agregar evidencia</a:t>
            </a:r>
            <a:endParaRPr lang="en-US" sz="2400" dirty="0"/>
          </a:p>
        </p:txBody>
      </p:sp>
      <p:sp>
        <p:nvSpPr>
          <p:cNvPr id="9" name="Text 7"/>
          <p:cNvSpPr/>
          <p:nvPr/>
        </p:nvSpPr>
        <p:spPr>
          <a:xfrm>
            <a:off x="5802564" y="1278759"/>
            <a:ext cx="5703348"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Agregar una captura real y completar el enlace al repositorio.</a:t>
            </a:r>
            <a:endParaRPr lang="en-US" sz="1700" dirty="0"/>
          </a:p>
        </p:txBody>
      </p:sp>
      <p:sp>
        <p:nvSpPr>
          <p:cNvPr id="10" name="Shape 8"/>
          <p:cNvSpPr/>
          <p:nvPr/>
        </p:nvSpPr>
        <p:spPr>
          <a:xfrm>
            <a:off x="5257668" y="2255937"/>
            <a:ext cx="392500" cy="392509"/>
          </a:xfrm>
          <a:prstGeom prst="ellipse">
            <a:avLst/>
          </a:prstGeom>
          <a:solidFill>
            <a:srgbClr val="0A7C78"/>
          </a:solidFill>
          <a:ln w="12700">
            <a:solidFill>
              <a:srgbClr val="CBCFC0"/>
            </a:solidFill>
            <a:prstDash val="solid"/>
          </a:ln>
        </p:spPr>
      </p:sp>
      <p:sp>
        <p:nvSpPr>
          <p:cNvPr id="11" name="Text 9"/>
          <p:cNvSpPr/>
          <p:nvPr/>
        </p:nvSpPr>
        <p:spPr>
          <a:xfrm>
            <a:off x="5324342" y="2344241"/>
            <a:ext cx="868738"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IBM Plex Sans SemiBold" pitchFamily="34" charset="0"/>
                <a:ea typeface="IBM Plex Sans SemiBold" pitchFamily="34" charset="-122"/>
                <a:cs typeface="IBM Plex Sans SemiBold" pitchFamily="34" charset="-120"/>
              </a:rPr>
              <a:t>02</a:t>
            </a:r>
            <a:endParaRPr lang="en-US" sz="1700" dirty="0"/>
          </a:p>
        </p:txBody>
      </p:sp>
      <p:sp>
        <p:nvSpPr>
          <p:cNvPr id="12" name="Text 10"/>
          <p:cNvSpPr/>
          <p:nvPr/>
        </p:nvSpPr>
        <p:spPr>
          <a:xfrm>
            <a:off x="5802564" y="2237307"/>
            <a:ext cx="5703348" cy="402332"/>
          </a:xfrm>
          <a:prstGeom prst="rect">
            <a:avLst/>
          </a:prstGeom>
          <a:noFill/>
          <a:ln/>
        </p:spPr>
        <p:txBody>
          <a:bodyPr wrap="none" lIns="0" tIns="0" rIns="0" bIns="0" rtlCol="0" anchor="t"/>
          <a:lstStyle/>
          <a:p>
            <a:pPr algn="l"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Probar casos difíciles</a:t>
            </a:r>
            <a:endParaRPr lang="en-US" sz="2400" dirty="0"/>
          </a:p>
        </p:txBody>
      </p:sp>
      <p:sp>
        <p:nvSpPr>
          <p:cNvPr id="13" name="Text 11"/>
          <p:cNvSpPr/>
          <p:nvPr/>
        </p:nvSpPr>
        <p:spPr>
          <a:xfrm>
            <a:off x="5802564" y="2816550"/>
            <a:ext cx="5703348"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Probar el modelo con opiniones reales, ironía y negaciones.</a:t>
            </a:r>
            <a:endParaRPr lang="en-US" sz="1700" dirty="0"/>
          </a:p>
        </p:txBody>
      </p:sp>
      <p:sp>
        <p:nvSpPr>
          <p:cNvPr id="14" name="Shape 12"/>
          <p:cNvSpPr/>
          <p:nvPr/>
        </p:nvSpPr>
        <p:spPr>
          <a:xfrm>
            <a:off x="5257668" y="3793728"/>
            <a:ext cx="392500" cy="392509"/>
          </a:xfrm>
          <a:prstGeom prst="ellipse">
            <a:avLst/>
          </a:prstGeom>
          <a:solidFill>
            <a:srgbClr val="0A7C78"/>
          </a:solidFill>
          <a:ln w="12700">
            <a:solidFill>
              <a:srgbClr val="CBCFC0"/>
            </a:solidFill>
            <a:prstDash val="solid"/>
          </a:ln>
        </p:spPr>
      </p:sp>
      <p:sp>
        <p:nvSpPr>
          <p:cNvPr id="15" name="Text 13"/>
          <p:cNvSpPr/>
          <p:nvPr/>
        </p:nvSpPr>
        <p:spPr>
          <a:xfrm>
            <a:off x="5324342" y="3882033"/>
            <a:ext cx="868738"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IBM Plex Sans SemiBold" pitchFamily="34" charset="0"/>
                <a:ea typeface="IBM Plex Sans SemiBold" pitchFamily="34" charset="-122"/>
                <a:cs typeface="IBM Plex Sans SemiBold" pitchFamily="34" charset="-120"/>
              </a:rPr>
              <a:t>03</a:t>
            </a:r>
            <a:endParaRPr lang="en-US" sz="1700" dirty="0"/>
          </a:p>
        </p:txBody>
      </p:sp>
      <p:sp>
        <p:nvSpPr>
          <p:cNvPr id="16" name="Text 14"/>
          <p:cNvSpPr/>
          <p:nvPr/>
        </p:nvSpPr>
        <p:spPr>
          <a:xfrm>
            <a:off x="5802564" y="3775099"/>
            <a:ext cx="5703348" cy="402332"/>
          </a:xfrm>
          <a:prstGeom prst="rect">
            <a:avLst/>
          </a:prstGeom>
          <a:noFill/>
          <a:ln/>
        </p:spPr>
        <p:txBody>
          <a:bodyPr wrap="none" lIns="0" tIns="0" rIns="0" bIns="0" rtlCol="0" anchor="t"/>
          <a:lstStyle/>
          <a:p>
            <a:pPr algn="l"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Medir antes de escalar</a:t>
            </a:r>
            <a:endParaRPr lang="en-US" sz="2400" dirty="0"/>
          </a:p>
        </p:txBody>
      </p:sp>
      <p:sp>
        <p:nvSpPr>
          <p:cNvPr id="17" name="Text 15"/>
          <p:cNvSpPr/>
          <p:nvPr/>
        </p:nvSpPr>
        <p:spPr>
          <a:xfrm>
            <a:off x="5802564" y="4354342"/>
            <a:ext cx="5703348"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Medir precisión, tiempos y carga antes de abrirlo a más usuarios.</a:t>
            </a:r>
            <a:endParaRPr lang="en-US" sz="1700" dirty="0"/>
          </a:p>
        </p:txBody>
      </p:sp>
      <p:sp>
        <p:nvSpPr>
          <p:cNvPr id="18" name="Shape 16"/>
          <p:cNvSpPr/>
          <p:nvPr/>
        </p:nvSpPr>
        <p:spPr>
          <a:xfrm>
            <a:off x="5206870" y="5349974"/>
            <a:ext cx="6349841" cy="1350764"/>
          </a:xfrm>
          <a:prstGeom prst="roundRect">
            <a:avLst>
              <a:gd name="adj" fmla="val 49999"/>
            </a:avLst>
          </a:prstGeom>
          <a:solidFill>
            <a:srgbClr val="083C35"/>
          </a:solidFill>
          <a:ln/>
        </p:spPr>
      </p:sp>
      <p:sp>
        <p:nvSpPr>
          <p:cNvPr id="19" name="Text 17"/>
          <p:cNvSpPr/>
          <p:nvPr/>
        </p:nvSpPr>
        <p:spPr>
          <a:xfrm>
            <a:off x="5460863" y="5585051"/>
            <a:ext cx="5841854" cy="893564"/>
          </a:xfrm>
          <a:prstGeom prst="rect">
            <a:avLst/>
          </a:prstGeom>
          <a:noFill/>
          <a:ln/>
        </p:spPr>
        <p:txBody>
          <a:bodyPr wrap="square" lIns="0" tIns="0" rIns="0" bIns="0" rtlCol="0" anchor="t">
            <a:normAutofit/>
          </a:bodyPr>
          <a:lstStyle/>
          <a:p>
            <a:pPr algn="l" indent="0" marL="0">
              <a:lnSpc>
                <a:spcPct val="115000"/>
              </a:lnSpc>
              <a:buNone/>
            </a:pPr>
            <a:r>
              <a:rPr lang="en-US" sz="1700" b="1" dirty="0">
                <a:solidFill>
                  <a:srgbClr val="FFFFFF"/>
                </a:solidFill>
                <a:latin typeface="IBM Plex Sans Bold" pitchFamily="34" charset="0"/>
                <a:ea typeface="IBM Plex Sans Bold" pitchFamily="34" charset="-122"/>
                <a:cs typeface="IBM Plex Sans Bold" pitchFamily="34" charset="-120"/>
              </a:rPr>
              <a:t>Decisión sugerida:</a:t>
            </a:r>
            <a:pPr algn="l" indent="0" marL="0">
              <a:lnSpc>
                <a:spcPct val="115000"/>
              </a:lnSpc>
              <a:buNone/>
            </a:pPr>
            <a:r>
              <a:rPr lang="en-US" sz="1700" dirty="0">
                <a:solidFill>
                  <a:srgbClr val="FFFFFF"/>
                </a:solidFill>
                <a:latin typeface="IBM Plex Sans" pitchFamily="34" charset="0"/>
                <a:ea typeface="IBM Plex Sans" pitchFamily="34" charset="-122"/>
                <a:cs typeface="IBM Plex Sans" pitchFamily="34" charset="-120"/>
              </a:rPr>
              <a:t> usarlo como prototipo accesible y pasar a una fase de validación antes de comprometer una infraestructura mayor.</a:t>
            </a:r>
            <a:endParaRPr lang="en-US" sz="1700" dirty="0"/>
          </a:p>
        </p:txBody>
      </p:sp>
      <p:sp>
        <p:nvSpPr>
          <p:cNvPr id="20" name="Shape 18"/>
          <p:cNvSpPr/>
          <p:nvPr/>
        </p:nvSpPr>
        <p:spPr>
          <a:xfrm>
            <a:off x="5206870" y="2039441"/>
            <a:ext cx="6349841" cy="12700"/>
          </a:xfrm>
          <a:prstGeom prst="rect">
            <a:avLst/>
          </a:prstGeom>
          <a:solidFill>
            <a:srgbClr val="CBD4CE"/>
          </a:solidFill>
          <a:ln/>
        </p:spPr>
      </p:sp>
      <p:sp>
        <p:nvSpPr>
          <p:cNvPr id="21" name="Shape 19"/>
          <p:cNvSpPr/>
          <p:nvPr/>
        </p:nvSpPr>
        <p:spPr>
          <a:xfrm>
            <a:off x="5206870" y="3577233"/>
            <a:ext cx="6349841" cy="12700"/>
          </a:xfrm>
          <a:prstGeom prst="rect">
            <a:avLst/>
          </a:prstGeom>
          <a:solidFill>
            <a:srgbClr val="CBD4CE"/>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8B49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2026-10-16T05:31:52Z</dcterms:created>
  <dcterms:modified xsi:type="dcterms:W3CDTF">2026-10-16T05:31:52Z</dcterms:modified>
</cp:coreProperties>
</file>